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>
      <p:cViewPr varScale="1">
        <p:scale>
          <a:sx n="125" d="100"/>
          <a:sy n="125" d="100"/>
        </p:scale>
        <p:origin x="102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A270899-272F-4CEA-B303-9E105C31273E}" type="doc">
      <dgm:prSet loTypeId="urn:microsoft.com/office/officeart/2005/8/layout/process4" loCatId="process" qsTypeId="urn:microsoft.com/office/officeart/2005/8/quickstyle/simple2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A76C4102-90A9-44F4-AFBC-6C115E786073}">
      <dgm:prSet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de-DE"/>
            <a:t>Erste Iteration: </a:t>
          </a:r>
          <a:r>
            <a:rPr lang="de-DE" b="1"/>
            <a:t>Abstimmungsverhalten</a:t>
          </a:r>
          <a:r>
            <a:rPr lang="de-DE"/>
            <a:t> (Parteikoalitionen, Sprechaktivität, sechs Seiten).</a:t>
          </a:r>
          <a:endParaRPr lang="en-US"/>
        </a:p>
      </dgm:t>
    </dgm:pt>
    <dgm:pt modelId="{7F14C76C-82CF-4024-8717-66BF5A4E0F33}" type="parTrans" cxnId="{7B269BEF-2498-43BF-A4E6-134831A4D235}">
      <dgm:prSet/>
      <dgm:spPr/>
      <dgm:t>
        <a:bodyPr/>
        <a:lstStyle/>
        <a:p>
          <a:endParaRPr lang="en-US"/>
        </a:p>
      </dgm:t>
    </dgm:pt>
    <dgm:pt modelId="{E47C2CD4-A98C-407A-952B-3F3DD4BB1E89}" type="sibTrans" cxnId="{7B269BEF-2498-43BF-A4E6-134831A4D235}">
      <dgm:prSet/>
      <dgm:spPr/>
      <dgm:t>
        <a:bodyPr/>
        <a:lstStyle/>
        <a:p>
          <a:endParaRPr lang="en-US"/>
        </a:p>
      </dgm:t>
    </dgm:pt>
    <dgm:pt modelId="{6DEE1B42-DA2E-47ED-A0BF-7F8C20B660E6}">
      <dgm:prSet/>
      <dgm:spPr>
        <a:solidFill>
          <a:schemeClr val="accent2">
            <a:lumMod val="20000"/>
            <a:lumOff val="80000"/>
            <a:alpha val="90000"/>
          </a:schemeClr>
        </a:solidFill>
        <a:ln>
          <a:noFill/>
        </a:ln>
      </dgm:spPr>
      <dgm:t>
        <a:bodyPr/>
        <a:lstStyle/>
        <a:p>
          <a:r>
            <a:rPr lang="de-DE" b="1" dirty="0"/>
            <a:t>Problem</a:t>
          </a:r>
          <a:r>
            <a:rPr lang="de-DE" dirty="0"/>
            <a:t>: ohne politikwissenschaftliches Vorwissen schwer zu einer konsistenten Erzählung verdichtbar</a:t>
          </a:r>
          <a:endParaRPr lang="en-US" dirty="0"/>
        </a:p>
      </dgm:t>
    </dgm:pt>
    <dgm:pt modelId="{5A240687-46C5-4BE5-B6D4-DB7C8F66327F}" type="parTrans" cxnId="{FE36741B-85CB-462E-91DF-B07F07AE9ADB}">
      <dgm:prSet/>
      <dgm:spPr/>
      <dgm:t>
        <a:bodyPr/>
        <a:lstStyle/>
        <a:p>
          <a:endParaRPr lang="en-US"/>
        </a:p>
      </dgm:t>
    </dgm:pt>
    <dgm:pt modelId="{A0FB8C34-1928-47B8-9801-24CFC2AEDD70}" type="sibTrans" cxnId="{FE36741B-85CB-462E-91DF-B07F07AE9ADB}">
      <dgm:prSet/>
      <dgm:spPr/>
      <dgm:t>
        <a:bodyPr/>
        <a:lstStyle/>
        <a:p>
          <a:endParaRPr lang="en-US"/>
        </a:p>
      </dgm:t>
    </dgm:pt>
    <dgm:pt modelId="{382ABDC0-9BB1-4FD4-8BEC-F6042C858867}">
      <dgm:prSet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de-DE" b="1" dirty="0"/>
            <a:t>Pivot Anfang Mai:</a:t>
          </a:r>
          <a:r>
            <a:rPr lang="de-DE" dirty="0"/>
            <a:t> Eingrenzung auf eine einzige falsifizierbare Hypothese mit einem universell verständlichen Konzept (Alter).</a:t>
          </a:r>
          <a:endParaRPr lang="en-US" dirty="0"/>
        </a:p>
      </dgm:t>
    </dgm:pt>
    <dgm:pt modelId="{D227F29A-29E9-4F60-B4F6-D514D176DF95}" type="parTrans" cxnId="{21953C35-A6C4-456D-9087-7AEC10A47207}">
      <dgm:prSet/>
      <dgm:spPr/>
      <dgm:t>
        <a:bodyPr/>
        <a:lstStyle/>
        <a:p>
          <a:endParaRPr lang="en-US"/>
        </a:p>
      </dgm:t>
    </dgm:pt>
    <dgm:pt modelId="{DC54B9B5-DE4D-4690-ACB4-6E8396913E58}" type="sibTrans" cxnId="{21953C35-A6C4-456D-9087-7AEC10A47207}">
      <dgm:prSet/>
      <dgm:spPr/>
      <dgm:t>
        <a:bodyPr/>
        <a:lstStyle/>
        <a:p>
          <a:endParaRPr lang="en-US"/>
        </a:p>
      </dgm:t>
    </dgm:pt>
    <dgm:pt modelId="{743A0417-CE3E-425D-AE17-A4D159292364}">
      <dgm:prSet/>
      <dgm:spPr>
        <a:solidFill>
          <a:schemeClr val="accent2">
            <a:lumMod val="20000"/>
            <a:lumOff val="80000"/>
            <a:alpha val="90000"/>
          </a:schemeClr>
        </a:solidFill>
        <a:ln>
          <a:noFill/>
        </a:ln>
      </dgm:spPr>
      <dgm:t>
        <a:bodyPr/>
        <a:lstStyle/>
        <a:p>
          <a:r>
            <a:rPr lang="de-DE" b="1" dirty="0"/>
            <a:t>Take-away:</a:t>
          </a:r>
          <a:r>
            <a:rPr lang="de-DE" dirty="0"/>
            <a:t> Eine gute Datenstory beginnt mit einer Frage, nicht mit einem Datensatz</a:t>
          </a:r>
          <a:endParaRPr lang="en-US" dirty="0"/>
        </a:p>
      </dgm:t>
    </dgm:pt>
    <dgm:pt modelId="{2C4E2042-6F0E-4EB6-96E2-0C5BC4A82651}" type="parTrans" cxnId="{69D07E40-798E-41B7-8EFC-EEBB25C7430E}">
      <dgm:prSet/>
      <dgm:spPr/>
      <dgm:t>
        <a:bodyPr/>
        <a:lstStyle/>
        <a:p>
          <a:endParaRPr lang="en-US"/>
        </a:p>
      </dgm:t>
    </dgm:pt>
    <dgm:pt modelId="{B5605CBC-0385-4BA4-A260-D2363CE58B48}" type="sibTrans" cxnId="{69D07E40-798E-41B7-8EFC-EEBB25C7430E}">
      <dgm:prSet/>
      <dgm:spPr/>
      <dgm:t>
        <a:bodyPr/>
        <a:lstStyle/>
        <a:p>
          <a:endParaRPr lang="en-US"/>
        </a:p>
      </dgm:t>
    </dgm:pt>
    <dgm:pt modelId="{AEA86A34-DC26-4932-BB01-0F162DB7822E}" type="pres">
      <dgm:prSet presAssocID="{3A270899-272F-4CEA-B303-9E105C31273E}" presName="Name0" presStyleCnt="0">
        <dgm:presLayoutVars>
          <dgm:dir/>
          <dgm:animLvl val="lvl"/>
          <dgm:resizeHandles val="exact"/>
        </dgm:presLayoutVars>
      </dgm:prSet>
      <dgm:spPr/>
    </dgm:pt>
    <dgm:pt modelId="{5424B8E3-2696-41A5-933A-6DE61670B480}" type="pres">
      <dgm:prSet presAssocID="{382ABDC0-9BB1-4FD4-8BEC-F6042C858867}" presName="boxAndChildren" presStyleCnt="0"/>
      <dgm:spPr/>
    </dgm:pt>
    <dgm:pt modelId="{B711236B-0829-44A8-9D04-4C6E2B30DF86}" type="pres">
      <dgm:prSet presAssocID="{382ABDC0-9BB1-4FD4-8BEC-F6042C858867}" presName="parentTextBox" presStyleLbl="node1" presStyleIdx="0" presStyleCnt="2"/>
      <dgm:spPr/>
    </dgm:pt>
    <dgm:pt modelId="{2D823446-A5DD-4D5C-BCE3-415BA3025AE7}" type="pres">
      <dgm:prSet presAssocID="{382ABDC0-9BB1-4FD4-8BEC-F6042C858867}" presName="entireBox" presStyleLbl="node1" presStyleIdx="0" presStyleCnt="2"/>
      <dgm:spPr/>
    </dgm:pt>
    <dgm:pt modelId="{08A77BE5-AB62-41C7-A9B3-CF5158376174}" type="pres">
      <dgm:prSet presAssocID="{382ABDC0-9BB1-4FD4-8BEC-F6042C858867}" presName="descendantBox" presStyleCnt="0"/>
      <dgm:spPr/>
    </dgm:pt>
    <dgm:pt modelId="{C2D24853-D9CA-4D62-815D-15195F75F0B7}" type="pres">
      <dgm:prSet presAssocID="{743A0417-CE3E-425D-AE17-A4D159292364}" presName="childTextBox" presStyleLbl="fgAccFollowNode1" presStyleIdx="0" presStyleCnt="2" custLinFactNeighborX="1088" custLinFactNeighborY="6794">
        <dgm:presLayoutVars>
          <dgm:bulletEnabled val="1"/>
        </dgm:presLayoutVars>
      </dgm:prSet>
      <dgm:spPr/>
    </dgm:pt>
    <dgm:pt modelId="{825A53FE-A7AC-4796-922A-8102CE985BE7}" type="pres">
      <dgm:prSet presAssocID="{E47C2CD4-A98C-407A-952B-3F3DD4BB1E89}" presName="sp" presStyleCnt="0"/>
      <dgm:spPr/>
    </dgm:pt>
    <dgm:pt modelId="{965462D1-AD25-4890-AB19-EFCD126C6664}" type="pres">
      <dgm:prSet presAssocID="{A76C4102-90A9-44F4-AFBC-6C115E786073}" presName="arrowAndChildren" presStyleCnt="0"/>
      <dgm:spPr/>
    </dgm:pt>
    <dgm:pt modelId="{7A6B0D4E-C9B3-4177-A8F1-10CE3814A347}" type="pres">
      <dgm:prSet presAssocID="{A76C4102-90A9-44F4-AFBC-6C115E786073}" presName="parentTextArrow" presStyleLbl="node1" presStyleIdx="0" presStyleCnt="2"/>
      <dgm:spPr/>
    </dgm:pt>
    <dgm:pt modelId="{8AB0828E-C713-4FEF-887B-0BC36A4D486A}" type="pres">
      <dgm:prSet presAssocID="{A76C4102-90A9-44F4-AFBC-6C115E786073}" presName="arrow" presStyleLbl="node1" presStyleIdx="1" presStyleCnt="2"/>
      <dgm:spPr/>
    </dgm:pt>
    <dgm:pt modelId="{DD05CF2F-7FF6-462D-9091-731283B8E6DF}" type="pres">
      <dgm:prSet presAssocID="{A76C4102-90A9-44F4-AFBC-6C115E786073}" presName="descendantArrow" presStyleCnt="0"/>
      <dgm:spPr/>
    </dgm:pt>
    <dgm:pt modelId="{B81CE8B5-3604-4A30-90D7-26D92AF3451A}" type="pres">
      <dgm:prSet presAssocID="{6DEE1B42-DA2E-47ED-A0BF-7F8C20B660E6}" presName="childTextArrow" presStyleLbl="fgAccFollowNode1" presStyleIdx="1" presStyleCnt="2">
        <dgm:presLayoutVars>
          <dgm:bulletEnabled val="1"/>
        </dgm:presLayoutVars>
      </dgm:prSet>
      <dgm:spPr/>
    </dgm:pt>
  </dgm:ptLst>
  <dgm:cxnLst>
    <dgm:cxn modelId="{6300F106-9B93-4D6C-800C-4898B6B68336}" type="presOf" srcId="{6DEE1B42-DA2E-47ED-A0BF-7F8C20B660E6}" destId="{B81CE8B5-3604-4A30-90D7-26D92AF3451A}" srcOrd="0" destOrd="0" presId="urn:microsoft.com/office/officeart/2005/8/layout/process4"/>
    <dgm:cxn modelId="{FE36741B-85CB-462E-91DF-B07F07AE9ADB}" srcId="{A76C4102-90A9-44F4-AFBC-6C115E786073}" destId="{6DEE1B42-DA2E-47ED-A0BF-7F8C20B660E6}" srcOrd="0" destOrd="0" parTransId="{5A240687-46C5-4BE5-B6D4-DB7C8F66327F}" sibTransId="{A0FB8C34-1928-47B8-9801-24CFC2AEDD70}"/>
    <dgm:cxn modelId="{21953C35-A6C4-456D-9087-7AEC10A47207}" srcId="{3A270899-272F-4CEA-B303-9E105C31273E}" destId="{382ABDC0-9BB1-4FD4-8BEC-F6042C858867}" srcOrd="1" destOrd="0" parTransId="{D227F29A-29E9-4F60-B4F6-D514D176DF95}" sibTransId="{DC54B9B5-DE4D-4690-ACB4-6E8396913E58}"/>
    <dgm:cxn modelId="{69D07E40-798E-41B7-8EFC-EEBB25C7430E}" srcId="{382ABDC0-9BB1-4FD4-8BEC-F6042C858867}" destId="{743A0417-CE3E-425D-AE17-A4D159292364}" srcOrd="0" destOrd="0" parTransId="{2C4E2042-6F0E-4EB6-96E2-0C5BC4A82651}" sibTransId="{B5605CBC-0385-4BA4-A260-D2363CE58B48}"/>
    <dgm:cxn modelId="{03759B6B-3BE6-4FE1-A6D4-F2ED5081ED03}" type="presOf" srcId="{3A270899-272F-4CEA-B303-9E105C31273E}" destId="{AEA86A34-DC26-4932-BB01-0F162DB7822E}" srcOrd="0" destOrd="0" presId="urn:microsoft.com/office/officeart/2005/8/layout/process4"/>
    <dgm:cxn modelId="{0632AE70-DC93-4954-8A10-0E586A263402}" type="presOf" srcId="{382ABDC0-9BB1-4FD4-8BEC-F6042C858867}" destId="{2D823446-A5DD-4D5C-BCE3-415BA3025AE7}" srcOrd="1" destOrd="0" presId="urn:microsoft.com/office/officeart/2005/8/layout/process4"/>
    <dgm:cxn modelId="{7F7B1851-E9C5-4E69-8409-747B7A83C304}" type="presOf" srcId="{382ABDC0-9BB1-4FD4-8BEC-F6042C858867}" destId="{B711236B-0829-44A8-9D04-4C6E2B30DF86}" srcOrd="0" destOrd="0" presId="urn:microsoft.com/office/officeart/2005/8/layout/process4"/>
    <dgm:cxn modelId="{AE160A78-18ED-42AC-937A-808BB895E949}" type="presOf" srcId="{743A0417-CE3E-425D-AE17-A4D159292364}" destId="{C2D24853-D9CA-4D62-815D-15195F75F0B7}" srcOrd="0" destOrd="0" presId="urn:microsoft.com/office/officeart/2005/8/layout/process4"/>
    <dgm:cxn modelId="{FA70DCA5-B42E-4D84-8CCA-2D9089B3EA87}" type="presOf" srcId="{A76C4102-90A9-44F4-AFBC-6C115E786073}" destId="{8AB0828E-C713-4FEF-887B-0BC36A4D486A}" srcOrd="1" destOrd="0" presId="urn:microsoft.com/office/officeart/2005/8/layout/process4"/>
    <dgm:cxn modelId="{7B269BEF-2498-43BF-A4E6-134831A4D235}" srcId="{3A270899-272F-4CEA-B303-9E105C31273E}" destId="{A76C4102-90A9-44F4-AFBC-6C115E786073}" srcOrd="0" destOrd="0" parTransId="{7F14C76C-82CF-4024-8717-66BF5A4E0F33}" sibTransId="{E47C2CD4-A98C-407A-952B-3F3DD4BB1E89}"/>
    <dgm:cxn modelId="{051665F3-9EDB-4EF4-B146-3A76E1256866}" type="presOf" srcId="{A76C4102-90A9-44F4-AFBC-6C115E786073}" destId="{7A6B0D4E-C9B3-4177-A8F1-10CE3814A347}" srcOrd="0" destOrd="0" presId="urn:microsoft.com/office/officeart/2005/8/layout/process4"/>
    <dgm:cxn modelId="{A1F8A16B-6593-4392-9694-1320E7FF59A7}" type="presParOf" srcId="{AEA86A34-DC26-4932-BB01-0F162DB7822E}" destId="{5424B8E3-2696-41A5-933A-6DE61670B480}" srcOrd="0" destOrd="0" presId="urn:microsoft.com/office/officeart/2005/8/layout/process4"/>
    <dgm:cxn modelId="{E40D0876-BB47-4B67-AA98-612652241985}" type="presParOf" srcId="{5424B8E3-2696-41A5-933A-6DE61670B480}" destId="{B711236B-0829-44A8-9D04-4C6E2B30DF86}" srcOrd="0" destOrd="0" presId="urn:microsoft.com/office/officeart/2005/8/layout/process4"/>
    <dgm:cxn modelId="{9E80ADF3-9584-44F1-95C0-B19F60BEB23D}" type="presParOf" srcId="{5424B8E3-2696-41A5-933A-6DE61670B480}" destId="{2D823446-A5DD-4D5C-BCE3-415BA3025AE7}" srcOrd="1" destOrd="0" presId="urn:microsoft.com/office/officeart/2005/8/layout/process4"/>
    <dgm:cxn modelId="{05E1C7B1-3A7D-4C0E-948A-1AD814479D5B}" type="presParOf" srcId="{5424B8E3-2696-41A5-933A-6DE61670B480}" destId="{08A77BE5-AB62-41C7-A9B3-CF5158376174}" srcOrd="2" destOrd="0" presId="urn:microsoft.com/office/officeart/2005/8/layout/process4"/>
    <dgm:cxn modelId="{AFA85138-0CC8-4428-B2AE-92341332DE0E}" type="presParOf" srcId="{08A77BE5-AB62-41C7-A9B3-CF5158376174}" destId="{C2D24853-D9CA-4D62-815D-15195F75F0B7}" srcOrd="0" destOrd="0" presId="urn:microsoft.com/office/officeart/2005/8/layout/process4"/>
    <dgm:cxn modelId="{A9D7C4BF-013C-4F14-831F-B5F070810F75}" type="presParOf" srcId="{AEA86A34-DC26-4932-BB01-0F162DB7822E}" destId="{825A53FE-A7AC-4796-922A-8102CE985BE7}" srcOrd="1" destOrd="0" presId="urn:microsoft.com/office/officeart/2005/8/layout/process4"/>
    <dgm:cxn modelId="{A449B28C-DF54-4019-9CE2-2A0EE3F0C6D6}" type="presParOf" srcId="{AEA86A34-DC26-4932-BB01-0F162DB7822E}" destId="{965462D1-AD25-4890-AB19-EFCD126C6664}" srcOrd="2" destOrd="0" presId="urn:microsoft.com/office/officeart/2005/8/layout/process4"/>
    <dgm:cxn modelId="{C5159F5E-6FBB-48BC-8A32-0CAF2F1F3D91}" type="presParOf" srcId="{965462D1-AD25-4890-AB19-EFCD126C6664}" destId="{7A6B0D4E-C9B3-4177-A8F1-10CE3814A347}" srcOrd="0" destOrd="0" presId="urn:microsoft.com/office/officeart/2005/8/layout/process4"/>
    <dgm:cxn modelId="{7C77600F-D97D-40ED-A23E-DA50E3DF1982}" type="presParOf" srcId="{965462D1-AD25-4890-AB19-EFCD126C6664}" destId="{8AB0828E-C713-4FEF-887B-0BC36A4D486A}" srcOrd="1" destOrd="0" presId="urn:microsoft.com/office/officeart/2005/8/layout/process4"/>
    <dgm:cxn modelId="{EE33F423-326E-446B-9F4B-87F62A2F2C2D}" type="presParOf" srcId="{965462D1-AD25-4890-AB19-EFCD126C6664}" destId="{DD05CF2F-7FF6-462D-9091-731283B8E6DF}" srcOrd="2" destOrd="0" presId="urn:microsoft.com/office/officeart/2005/8/layout/process4"/>
    <dgm:cxn modelId="{821B2420-C979-4EB9-910E-2A25B7214A85}" type="presParOf" srcId="{DD05CF2F-7FF6-462D-9091-731283B8E6DF}" destId="{B81CE8B5-3604-4A30-90D7-26D92AF3451A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823446-A5DD-4D5C-BCE3-415BA3025AE7}">
      <dsp:nvSpPr>
        <dsp:cNvPr id="0" name=""/>
        <dsp:cNvSpPr/>
      </dsp:nvSpPr>
      <dsp:spPr>
        <a:xfrm>
          <a:off x="0" y="3504494"/>
          <a:ext cx="7315200" cy="2299327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6464" tIns="156464" rIns="156464" bIns="15646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b="1" kern="1200" dirty="0"/>
            <a:t>Pivot Anfang Mai:</a:t>
          </a:r>
          <a:r>
            <a:rPr lang="de-DE" sz="2200" kern="1200" dirty="0"/>
            <a:t> Eingrenzung auf eine einzige falsifizierbare Hypothese mit einem universell verständlichen Konzept (Alter).</a:t>
          </a:r>
          <a:endParaRPr lang="en-US" sz="2200" kern="1200" dirty="0"/>
        </a:p>
      </dsp:txBody>
      <dsp:txXfrm>
        <a:off x="0" y="3504494"/>
        <a:ext cx="7315200" cy="1241636"/>
      </dsp:txXfrm>
    </dsp:sp>
    <dsp:sp modelId="{C2D24853-D9CA-4D62-815D-15195F75F0B7}">
      <dsp:nvSpPr>
        <dsp:cNvPr id="0" name=""/>
        <dsp:cNvSpPr/>
      </dsp:nvSpPr>
      <dsp:spPr>
        <a:xfrm>
          <a:off x="0" y="4748749"/>
          <a:ext cx="7315200" cy="1057690"/>
        </a:xfrm>
        <a:prstGeom prst="rect">
          <a:avLst/>
        </a:prstGeom>
        <a:solidFill>
          <a:schemeClr val="accent2">
            <a:lumMod val="20000"/>
            <a:lumOff val="80000"/>
            <a:alpha val="9000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30480" rIns="170688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400" b="1" kern="1200" dirty="0"/>
            <a:t>Take-away:</a:t>
          </a:r>
          <a:r>
            <a:rPr lang="de-DE" sz="2400" kern="1200" dirty="0"/>
            <a:t> Eine gute Datenstory beginnt mit einer Frage, nicht mit einem Datensatz</a:t>
          </a:r>
          <a:endParaRPr lang="en-US" sz="2400" kern="1200" dirty="0"/>
        </a:p>
      </dsp:txBody>
      <dsp:txXfrm>
        <a:off x="0" y="4748749"/>
        <a:ext cx="7315200" cy="1057690"/>
      </dsp:txXfrm>
    </dsp:sp>
    <dsp:sp modelId="{8AB0828E-C713-4FEF-887B-0BC36A4D486A}">
      <dsp:nvSpPr>
        <dsp:cNvPr id="0" name=""/>
        <dsp:cNvSpPr/>
      </dsp:nvSpPr>
      <dsp:spPr>
        <a:xfrm rot="10800000">
          <a:off x="0" y="2618"/>
          <a:ext cx="7315200" cy="3536365"/>
        </a:xfrm>
        <a:prstGeom prst="upArrowCallout">
          <a:avLst/>
        </a:prstGeom>
        <a:solidFill>
          <a:schemeClr val="accent2">
            <a:lumMod val="60000"/>
            <a:lumOff val="4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6464" tIns="156464" rIns="156464" bIns="15646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/>
            <a:t>Erste Iteration: </a:t>
          </a:r>
          <a:r>
            <a:rPr lang="de-DE" sz="2200" b="1" kern="1200"/>
            <a:t>Abstimmungsverhalten</a:t>
          </a:r>
          <a:r>
            <a:rPr lang="de-DE" sz="2200" kern="1200"/>
            <a:t> (Parteikoalitionen, Sprechaktivität, sechs Seiten).</a:t>
          </a:r>
          <a:endParaRPr lang="en-US" sz="2200" kern="1200"/>
        </a:p>
      </dsp:txBody>
      <dsp:txXfrm rot="-10800000">
        <a:off x="0" y="2618"/>
        <a:ext cx="7315200" cy="1241264"/>
      </dsp:txXfrm>
    </dsp:sp>
    <dsp:sp modelId="{B81CE8B5-3604-4A30-90D7-26D92AF3451A}">
      <dsp:nvSpPr>
        <dsp:cNvPr id="0" name=""/>
        <dsp:cNvSpPr/>
      </dsp:nvSpPr>
      <dsp:spPr>
        <a:xfrm>
          <a:off x="0" y="1243882"/>
          <a:ext cx="7315200" cy="1057373"/>
        </a:xfrm>
        <a:prstGeom prst="rect">
          <a:avLst/>
        </a:prstGeom>
        <a:solidFill>
          <a:schemeClr val="accent2">
            <a:lumMod val="20000"/>
            <a:lumOff val="80000"/>
            <a:alpha val="9000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30480" rIns="170688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400" b="1" kern="1200" dirty="0"/>
            <a:t>Problem</a:t>
          </a:r>
          <a:r>
            <a:rPr lang="de-DE" sz="2400" kern="1200" dirty="0"/>
            <a:t>: ohne politikwissenschaftliches Vorwissen schwer zu einer konsistenten Erzählung verdichtbar</a:t>
          </a:r>
          <a:endParaRPr lang="en-US" sz="2400" kern="1200" dirty="0"/>
        </a:p>
      </dsp:txBody>
      <dsp:txXfrm>
        <a:off x="0" y="1243882"/>
        <a:ext cx="7315200" cy="105737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7FFB9803-9D1D-4898-AAE2-D2FBD12BA9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1999" cy="4939393"/>
          </a:xfrm>
          <a:prstGeom prst="rect">
            <a:avLst/>
          </a:prstGeom>
          <a:ln>
            <a:noFill/>
          </a:ln>
          <a:effectLst>
            <a:outerShdw blurRad="292100" dist="63500" dir="5400000" sx="96000" sy="96000" algn="t" rotWithShape="0">
              <a:srgbClr val="000000">
                <a:alpha val="48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199" y="5121129"/>
            <a:ext cx="11277604" cy="78638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3600" dirty="0"/>
            </a:lvl1pPr>
          </a:lstStyle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198" y="5915481"/>
            <a:ext cx="11277603" cy="480373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12191999" cy="4944351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C81B6CB-43CE-466F-88A9-8B8F4CFE8975}" type="datetime1">
              <a:rPr lang="en-US" smtClean="0"/>
              <a:t>5/17/2026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685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10809026" cy="971006"/>
          </a:xfrm>
        </p:spPr>
        <p:txBody>
          <a:bodyPr anchor="b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FB5FE-74B1-47DA-9CAE-F43A0B55E4F1}" type="datetime1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203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503EC21-D784-9EDB-F275-60428E050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1999" cy="4939393"/>
          </a:xfrm>
          <a:prstGeom prst="rect">
            <a:avLst/>
          </a:prstGeom>
          <a:ln>
            <a:noFill/>
          </a:ln>
          <a:effectLst>
            <a:outerShdw blurRad="304800" dist="50800" dir="5400000" sx="96000" sy="96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5AEA52D-0CD6-21E0-5777-2F16DC4C91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767" y="0"/>
            <a:ext cx="6584949" cy="6858000"/>
          </a:xfrm>
          <a:prstGeom prst="rect">
            <a:avLst/>
          </a:prstGeom>
          <a:ln>
            <a:noFill/>
          </a:ln>
          <a:effectLst>
            <a:outerShdw blurRad="457200" dist="76200" sx="96000" sy="96000" algn="t" rotWithShape="0">
              <a:srgbClr val="000000">
                <a:alpha val="1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8896" y="555706"/>
            <a:ext cx="4361688" cy="404908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800" dirty="0"/>
            </a:lvl1pPr>
          </a:lstStyle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8896" y="5298623"/>
            <a:ext cx="4371463" cy="971015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000"/>
            </a:lvl1pPr>
          </a:lstStyle>
          <a:p>
            <a:pPr lvl="0"/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5766" y="0"/>
            <a:ext cx="6663325" cy="6858000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68895" y="6397585"/>
            <a:ext cx="170762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9891205-2E48-438F-8E2D-D4AB8C3C065A}" type="datetime1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7511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49B523C6-1C5C-6DE8-4A3F-21360DF860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" y="0"/>
            <a:ext cx="5059528" cy="4939393"/>
          </a:xfrm>
          <a:prstGeom prst="rect">
            <a:avLst/>
          </a:prstGeom>
          <a:ln>
            <a:noFill/>
          </a:ln>
          <a:effectLst>
            <a:outerShdw blurRad="304800" dist="50800" dir="5400000" sx="96000" sy="96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457200"/>
            <a:ext cx="4025153" cy="3739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5332780"/>
            <a:ext cx="4025153" cy="1016813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57200" y="6396802"/>
            <a:ext cx="1631737" cy="365125"/>
          </a:xfrm>
        </p:spPr>
        <p:txBody>
          <a:bodyPr/>
          <a:lstStyle/>
          <a:p>
            <a:fld id="{D5F03827-1D21-4134-AE54-D5524D64DCEC}" type="datetime1">
              <a:rPr lang="en-US" smtClean="0"/>
              <a:t>5/17/2026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963428" y="6396802"/>
            <a:ext cx="2540857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519970" y="6396802"/>
            <a:ext cx="539560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029201" y="0"/>
            <a:ext cx="7162800" cy="6858000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120672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6BE31160-AF08-1CA6-A9BD-8666BB2845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1999" cy="4939393"/>
          </a:xfrm>
          <a:prstGeom prst="rect">
            <a:avLst/>
          </a:prstGeom>
          <a:ln>
            <a:noFill/>
          </a:ln>
          <a:effectLst>
            <a:outerShdw blurRad="304800" dist="50800" dir="5400000" sx="96000" sy="96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9279" y="441434"/>
            <a:ext cx="7638277" cy="374300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000" dirty="0"/>
            </a:lvl1pPr>
          </a:lstStyle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199" y="5479642"/>
            <a:ext cx="7543001" cy="775044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40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48D1D-0000-4046-B84B-B9CEFCDA17B6}" type="datetime1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4202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6BE31160-AF08-1CA6-A9BD-8666BB2845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1999" cy="4939393"/>
          </a:xfrm>
          <a:prstGeom prst="rect">
            <a:avLst/>
          </a:prstGeom>
          <a:ln>
            <a:noFill/>
          </a:ln>
          <a:effectLst>
            <a:outerShdw blurRad="304800" dist="50800" dir="5400000" sx="96000" sy="96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9278" y="441434"/>
            <a:ext cx="7955280" cy="374300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199" y="5479642"/>
            <a:ext cx="7866993" cy="775044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200" dirty="0"/>
            </a:lvl1pPr>
          </a:lstStyle>
          <a:p>
            <a:pPr lvl="0"/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21960-FE29-4EC6-B6FC-C22016F1BE24}" type="datetime1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844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F3B096F-F950-72C3-095D-2538032D98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1999" cy="4939393"/>
          </a:xfrm>
          <a:prstGeom prst="rect">
            <a:avLst/>
          </a:prstGeom>
          <a:ln>
            <a:noFill/>
          </a:ln>
          <a:effectLst>
            <a:outerShdw blurRad="304800" dist="50800" dir="5400000" sx="96000" sy="96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199" y="925186"/>
            <a:ext cx="7876287" cy="359262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20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198" y="5376439"/>
            <a:ext cx="7876287" cy="981451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199" y="6397585"/>
            <a:ext cx="4043855" cy="365125"/>
          </a:xfrm>
        </p:spPr>
        <p:txBody>
          <a:bodyPr/>
          <a:lstStyle/>
          <a:p>
            <a:fld id="{5D9D788B-2E73-40B9-BCA6-1E765B601FEF}" type="datetime1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6272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197" y="3507830"/>
            <a:ext cx="7772400" cy="294436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8000" dirty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fld id="{C4D6F1DF-7200-4B91-8050-F635DAB9B966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32948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84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2"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197" y="3507830"/>
            <a:ext cx="7772400" cy="294436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800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95D0CDF-3021-486C-B3C2-8B0F2ECF95F9}" type="datetime1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2750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84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248D240F-8668-0DFF-3268-B576F3C30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0"/>
            <a:ext cx="12192001" cy="2797024"/>
          </a:xfrm>
          <a:prstGeom prst="rect">
            <a:avLst/>
          </a:prstGeom>
          <a:ln>
            <a:noFill/>
          </a:ln>
          <a:effectLst>
            <a:outerShdw blurRad="266700" dist="25400" dir="5400000" sx="96000" sy="96000" algn="t" rotWithShape="0">
              <a:srgbClr val="000000">
                <a:alpha val="7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62844"/>
            <a:ext cx="11238090" cy="2147328"/>
          </a:xfrm>
        </p:spPr>
        <p:txBody>
          <a:bodyPr anchor="b">
            <a:normAutofit/>
          </a:bodyPr>
          <a:lstStyle>
            <a:lvl1pPr>
              <a:defRPr sz="88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59022" y="3073016"/>
            <a:ext cx="6536267" cy="32261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08813-F68C-4D6B-A0D2-5D7526AA9642}" type="datetime1">
              <a:rPr lang="en-US" smtClean="0"/>
              <a:t>5/17/2026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9252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248D240F-8668-0DFF-3268-B576F3C30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1"/>
            <a:ext cx="12192001" cy="2892972"/>
          </a:xfrm>
          <a:prstGeom prst="rect">
            <a:avLst/>
          </a:prstGeom>
          <a:ln>
            <a:noFill/>
          </a:ln>
          <a:effectLst>
            <a:outerShdw blurRad="266700" dist="25400" dir="5400000" sx="96000" sy="96000" algn="t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457200"/>
            <a:ext cx="11232931" cy="2215056"/>
          </a:xfrm>
        </p:spPr>
        <p:txBody>
          <a:bodyPr anchor="b">
            <a:normAutofit/>
          </a:bodyPr>
          <a:lstStyle>
            <a:lvl1pPr>
              <a:defRPr sz="88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E54F8487-233E-737D-E06C-88B1E20DDF4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2892425"/>
            <a:ext cx="5888421" cy="3965575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61385" y="3231931"/>
            <a:ext cx="5328745" cy="2791839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61385" y="6397586"/>
            <a:ext cx="2435774" cy="365125"/>
          </a:xfrm>
        </p:spPr>
        <p:txBody>
          <a:bodyPr/>
          <a:lstStyle/>
          <a:p>
            <a:fld id="{CA9DE485-2DDC-4C87-9D36-DE45D8017C41}" type="datetime1">
              <a:rPr lang="en-US" smtClean="0"/>
              <a:t>5/17/2026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78917" y="6397586"/>
            <a:ext cx="2883406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3257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6BC7D191-B699-A268-2B37-AF87FB6A1A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58292" y="0"/>
            <a:ext cx="7033708" cy="6858000"/>
          </a:xfrm>
          <a:prstGeom prst="rect">
            <a:avLst/>
          </a:prstGeom>
          <a:ln>
            <a:noFill/>
          </a:ln>
          <a:effectLst>
            <a:outerShdw blurRad="304800" dist="50800" dir="5400000" sx="96000" sy="96000" algn="t" rotWithShape="0">
              <a:srgbClr val="000000">
                <a:alpha val="17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415" y="2385975"/>
            <a:ext cx="3635640" cy="2561582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679626" y="2386584"/>
            <a:ext cx="4827810" cy="2459736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0">
              <a:buNone/>
              <a:defRPr sz="1800"/>
            </a:lvl2pPr>
            <a:lvl3pPr marL="457200" indent="0">
              <a:buNone/>
              <a:defRPr sz="16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3412E-88C0-423A-B33B-2B668DA927D6}" type="datetime1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7418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EDC977C0-EDF0-01D2-4B36-D815C4C62A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4998404" cy="6858000"/>
          </a:xfrm>
          <a:prstGeom prst="rect">
            <a:avLst/>
          </a:prstGeom>
          <a:ln>
            <a:noFill/>
          </a:ln>
          <a:effectLst>
            <a:outerShdw blurRad="304800" dist="50800" dir="5400000" sx="95000" sy="95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1861457"/>
            <a:ext cx="3902530" cy="390033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 dirty="0"/>
            </a:lvl1pPr>
          </a:lstStyle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861457"/>
            <a:ext cx="4956175" cy="389500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C159D-7D89-42C2-8281-5FCE30E88AB1}" type="datetime1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5640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1E9EC3E4-62E5-4C6F-9887-208672447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98404" y="0"/>
            <a:ext cx="7193595" cy="6858000"/>
          </a:xfrm>
          <a:prstGeom prst="rect">
            <a:avLst/>
          </a:prstGeom>
          <a:ln>
            <a:noFill/>
          </a:ln>
          <a:effectLst>
            <a:outerShdw blurRad="304800" dist="50800" dir="5400000" sx="96000" sy="96000" algn="t" rotWithShape="0">
              <a:srgbClr val="000000">
                <a:alpha val="17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1331997"/>
            <a:ext cx="4023360" cy="463882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332432"/>
            <a:ext cx="5681662" cy="481806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75D23-C9DC-452B-8F85-54BA06AADDEA}" type="datetime1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5867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743CD6CB-7CF3-6170-4CDE-A7067B3BA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"/>
            <a:ext cx="4998404" cy="6858000"/>
          </a:xfrm>
          <a:prstGeom prst="rect">
            <a:avLst/>
          </a:prstGeom>
          <a:ln>
            <a:noFill/>
          </a:ln>
          <a:effectLst>
            <a:outerShdw blurRad="292100" dist="25400" dir="5400000" sx="95000" sy="95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894391"/>
            <a:ext cx="4031619" cy="4940661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894391"/>
            <a:ext cx="6159500" cy="539082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F8042-124F-4460-862E-75BE885F369D}" type="datetime1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7116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57200"/>
            <a:ext cx="3409648" cy="5719639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457200"/>
            <a:ext cx="7315200" cy="580644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BD655-1974-42EB-ABB7-731D89BD082B}" type="datetime1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6122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4889D7E3-7299-8FE5-8307-00CC93EFE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3973690" cy="6858000"/>
          </a:xfrm>
          <a:prstGeom prst="rect">
            <a:avLst/>
          </a:prstGeom>
          <a:ln>
            <a:noFill/>
          </a:ln>
          <a:effectLst>
            <a:outerShdw blurRad="254000" dist="25400" dir="5400000" sx="94000" sy="94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57200"/>
            <a:ext cx="3409648" cy="5719639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457200"/>
            <a:ext cx="7315200" cy="580644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20626-3D88-4D67-8337-214C7DE03941}" type="datetime1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79848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2418F682-5C62-E822-83E8-6084E0F4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"/>
            <a:ext cx="12191999" cy="1347109"/>
          </a:xfrm>
          <a:prstGeom prst="rect">
            <a:avLst/>
          </a:prstGeom>
          <a:ln>
            <a:noFill/>
          </a:ln>
          <a:effectLst>
            <a:outerShdw blurRad="228600" dist="25400" dir="5400000" sx="94000" sy="94000" algn="t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10809026" cy="693682"/>
          </a:xfrm>
        </p:spPr>
        <p:txBody>
          <a:bodyPr anchor="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FAA9E-3664-422A-86BF-374713D410C7}" type="datetime1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72908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9F1FBB-CDF9-0670-184F-9A88B51EF4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710407" cy="6858000"/>
          </a:xfrm>
          <a:prstGeom prst="rect">
            <a:avLst/>
          </a:prstGeom>
          <a:ln>
            <a:noFill/>
          </a:ln>
          <a:effectLst>
            <a:outerShdw blurRad="279400" dist="38100" dir="5400000" sx="96000" sy="96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2827" y="722294"/>
            <a:ext cx="6399335" cy="1143000"/>
          </a:xfrm>
        </p:spPr>
        <p:txBody>
          <a:bodyPr anchor="b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710407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33913" y="2038167"/>
            <a:ext cx="6376640" cy="423794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232827" y="6397585"/>
            <a:ext cx="3091366" cy="365125"/>
          </a:xfrm>
        </p:spPr>
        <p:txBody>
          <a:bodyPr/>
          <a:lstStyle/>
          <a:p>
            <a:fld id="{B01855B3-81BD-4EB3-93B8-24149614A5C2}" type="datetime1">
              <a:rPr lang="en-US" smtClean="0"/>
              <a:t>5/17/2026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4929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835C6F1D-29B8-BAD8-4A04-26165093EC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"/>
            <a:ext cx="12191999" cy="1715534"/>
          </a:xfrm>
          <a:prstGeom prst="rect">
            <a:avLst/>
          </a:prstGeom>
          <a:ln>
            <a:noFill/>
          </a:ln>
          <a:effectLst>
            <a:outerShdw blurRad="228600" dist="25400" dir="5400000" sx="94000" sy="94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C5ACC7DB-B90B-195F-A4A9-CBAC728A2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00542" y="0"/>
            <a:ext cx="4791457" cy="6858000"/>
          </a:xfrm>
          <a:prstGeom prst="rect">
            <a:avLst/>
          </a:prstGeom>
          <a:ln>
            <a:noFill/>
          </a:ln>
          <a:effectLst>
            <a:outerShdw blurRad="304800" dist="50800" dir="5400000" sx="96000" sy="96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38912"/>
            <a:ext cx="6249032" cy="987552"/>
          </a:xfrm>
        </p:spPr>
        <p:txBody>
          <a:bodyPr anchor="b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2031143"/>
            <a:ext cx="6249032" cy="420340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57200" y="6397586"/>
            <a:ext cx="3307438" cy="365125"/>
          </a:xfrm>
        </p:spPr>
        <p:txBody>
          <a:bodyPr/>
          <a:lstStyle/>
          <a:p>
            <a:fld id="{05C068A9-E788-4706-91DE-7660DC7E7F0B}" type="datetime1">
              <a:rPr lang="en-US" smtClean="0"/>
              <a:t>5/17/2026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950591" y="6397490"/>
            <a:ext cx="2755641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706232" y="639749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400544" y="0"/>
            <a:ext cx="4791456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214047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FF35C4E8-9A24-3BEF-0D59-220009169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019930" cy="6858000"/>
          </a:xfrm>
          <a:prstGeom prst="rect">
            <a:avLst/>
          </a:prstGeom>
          <a:ln>
            <a:noFill/>
          </a:ln>
          <a:effectLst>
            <a:outerShdw blurRad="304800" dist="50800" dir="5400000" sx="96000" sy="96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1264" y="320040"/>
            <a:ext cx="7062472" cy="1105348"/>
          </a:xfrm>
        </p:spPr>
        <p:txBody>
          <a:bodyPr anchor="b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01993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41264" y="1595300"/>
            <a:ext cx="7062472" cy="476892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541264" y="6397586"/>
            <a:ext cx="3698786" cy="365125"/>
          </a:xfrm>
        </p:spPr>
        <p:txBody>
          <a:bodyPr/>
          <a:lstStyle/>
          <a:p>
            <a:fld id="{C8311AF8-7954-47E6-837D-7F81EAFD6BAB}" type="datetime1">
              <a:rPr lang="en-US" smtClean="0"/>
              <a:t>5/17/2026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326257" y="6397586"/>
            <a:ext cx="318463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2171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C09B6B00-AC17-D2DA-234C-12A24C08F5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91732" y="0"/>
            <a:ext cx="4100268" cy="6858000"/>
          </a:xfrm>
          <a:prstGeom prst="rect">
            <a:avLst/>
          </a:prstGeom>
          <a:ln>
            <a:noFill/>
          </a:ln>
          <a:effectLst>
            <a:outerShdw blurRad="304800" dist="50800" dir="5400000" sx="96000" sy="96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7084142" cy="96889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199" y="1596044"/>
            <a:ext cx="7084143" cy="468676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57200" y="6397586"/>
            <a:ext cx="3643070" cy="365125"/>
          </a:xfrm>
        </p:spPr>
        <p:txBody>
          <a:bodyPr/>
          <a:lstStyle/>
          <a:p>
            <a:fld id="{6680B6FE-65B2-439C-A510-29C1D5265E18}" type="datetime1">
              <a:rPr lang="en-US" smtClean="0"/>
              <a:t>5/17/2026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301338" y="6397956"/>
            <a:ext cx="2988813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290151" y="6397956"/>
            <a:ext cx="499902" cy="36475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871976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176B02D-6E01-2EBF-F325-B8DA39114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721068" cy="6858000"/>
          </a:xfrm>
          <a:prstGeom prst="rect">
            <a:avLst/>
          </a:prstGeom>
          <a:ln>
            <a:noFill/>
          </a:ln>
          <a:effectLst>
            <a:outerShdw blurRad="254000" dist="50800" dir="5400000" sx="96000" sy="96000" algn="t" rotWithShape="0">
              <a:srgbClr val="000000">
                <a:alpha val="2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2526" y="457200"/>
            <a:ext cx="4437283" cy="141002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721068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42463" y="2034314"/>
            <a:ext cx="4437283" cy="427441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7C14F0-7A62-A99F-32EF-20CD6D15875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242464" y="6397586"/>
            <a:ext cx="1081730" cy="365125"/>
          </a:xfrm>
        </p:spPr>
        <p:txBody>
          <a:bodyPr/>
          <a:lstStyle/>
          <a:p>
            <a:fld id="{8B57DA0F-C87F-4899-B3EC-A249D58CEB65}" type="datetime1">
              <a:rPr lang="en-US" smtClean="0"/>
              <a:t>5/17/2026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9D7113-6F8F-6484-6394-7073CDE0310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D98A66-183A-7844-870D-C3A684106A1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34474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97EE1131-07A4-11FC-0FF4-FD66B6F29C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6014" y="0"/>
            <a:ext cx="6525986" cy="6858000"/>
          </a:xfrm>
          <a:prstGeom prst="rect">
            <a:avLst/>
          </a:prstGeom>
          <a:ln>
            <a:noFill/>
          </a:ln>
          <a:effectLst>
            <a:outerShdw blurRad="254000" dist="50800" dir="5400000" sx="96000" sy="96000" algn="t" rotWithShape="0">
              <a:srgbClr val="000000">
                <a:alpha val="2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199"/>
            <a:ext cx="4596493" cy="1843237"/>
          </a:xfrm>
        </p:spPr>
        <p:txBody>
          <a:bodyPr anchor="b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2467530"/>
            <a:ext cx="4596493" cy="384119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400801"/>
            <a:ext cx="2103432" cy="365125"/>
          </a:xfrm>
        </p:spPr>
        <p:txBody>
          <a:bodyPr/>
          <a:lstStyle/>
          <a:p>
            <a:fld id="{09BF27F9-1986-4E12-BC85-E6598B06D7AD}" type="datetime1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60632" y="6400801"/>
            <a:ext cx="238692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030576" y="6400801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66014" y="0"/>
            <a:ext cx="6525986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918008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9893A28-9D93-5E59-7AE5-C62D4A70F2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6012" y="0"/>
            <a:ext cx="6525988" cy="6858000"/>
          </a:xfrm>
          <a:prstGeom prst="rect">
            <a:avLst/>
          </a:prstGeom>
          <a:ln>
            <a:noFill/>
          </a:ln>
          <a:effectLst>
            <a:outerShdw blurRad="304800" dist="50800" dir="5400000" sx="96000" sy="96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457200"/>
            <a:ext cx="4702629" cy="9675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1596593"/>
            <a:ext cx="4702629" cy="476580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400800"/>
            <a:ext cx="1926771" cy="365125"/>
          </a:xfrm>
        </p:spPr>
        <p:txBody>
          <a:bodyPr/>
          <a:lstStyle/>
          <a:p>
            <a:fld id="{E47FC9F7-7102-4089-9AD9-CE2C2E265FF0}" type="datetime1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83971" y="6400800"/>
            <a:ext cx="253092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80215" y="6400800"/>
            <a:ext cx="5296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66014" y="0"/>
            <a:ext cx="6525985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018207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61BF16A2-8C4A-C525-68AF-0E38D15F04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7542724" cy="6858000"/>
          </a:xfrm>
          <a:prstGeom prst="rect">
            <a:avLst/>
          </a:prstGeom>
          <a:ln>
            <a:noFill/>
          </a:ln>
          <a:effectLst>
            <a:outerShdw blurRad="254000" dist="50800" dir="5400000" sx="96000" sy="96000" algn="t" rotWithShape="0">
              <a:srgbClr val="000000">
                <a:alpha val="2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4062" y="457199"/>
            <a:ext cx="3617863" cy="1860331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7542725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64061" y="2486370"/>
            <a:ext cx="3617863" cy="385718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064061" y="6397585"/>
            <a:ext cx="1070974" cy="365125"/>
          </a:xfrm>
        </p:spPr>
        <p:txBody>
          <a:bodyPr/>
          <a:lstStyle/>
          <a:p>
            <a:fld id="{880626D8-FAEA-4A7A-8E86-9292DD2FB9F3}" type="datetime1">
              <a:rPr lang="en-US" smtClean="0"/>
              <a:t>5/17/2026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9135035" y="6397586"/>
            <a:ext cx="2546891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78269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147FFA00-F19D-35C4-43F5-7774CF783A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2"/>
            <a:ext cx="12191999" cy="2028525"/>
          </a:xfrm>
          <a:prstGeom prst="rect">
            <a:avLst/>
          </a:prstGeom>
          <a:ln>
            <a:noFill/>
          </a:ln>
          <a:effectLst>
            <a:outerShdw blurRad="228600" dist="25400" dir="5400000" sx="94000" sy="94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4A3749AB-C065-8805-5DB3-B2B6037D95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61780" y="0"/>
            <a:ext cx="7430220" cy="6858000"/>
          </a:xfrm>
          <a:prstGeom prst="rect">
            <a:avLst/>
          </a:prstGeom>
          <a:ln>
            <a:noFill/>
          </a:ln>
          <a:effectLst>
            <a:outerShdw blurRad="304800" dist="50800" dir="5400000" sx="96000" sy="96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33551"/>
            <a:ext cx="3836126" cy="143466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/>
            </a:lvl1pPr>
          </a:lstStyle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2413678"/>
            <a:ext cx="3836126" cy="389252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98016"/>
            <a:ext cx="1505607" cy="365125"/>
          </a:xfrm>
        </p:spPr>
        <p:txBody>
          <a:bodyPr/>
          <a:lstStyle/>
          <a:p>
            <a:fld id="{E8B55424-EBC7-46E1-8859-6D5273AFBC59}" type="datetime1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62807" y="6398016"/>
            <a:ext cx="2204852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160345" y="6398016"/>
            <a:ext cx="5123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61780" y="0"/>
            <a:ext cx="7430219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2718981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6E37833-A2C4-7FCB-8584-0EB3A49F16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7820774" cy="6858000"/>
          </a:xfrm>
          <a:prstGeom prst="rect">
            <a:avLst/>
          </a:prstGeom>
          <a:ln>
            <a:noFill/>
          </a:ln>
          <a:effectLst>
            <a:outerShdw blurRad="304800" dist="38100" dir="5400000" sx="97000" sy="97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3102" y="1078992"/>
            <a:ext cx="3273552" cy="1942773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820774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44096" y="3188858"/>
            <a:ext cx="3273552" cy="2864469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3102" y="6397586"/>
            <a:ext cx="100365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687E338B-BF3D-4703-A59F-B3957392DDB6}" type="datetime1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46761" y="6397586"/>
            <a:ext cx="233516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73470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B6CED154-A4D5-E707-22BD-0D80A9C97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"/>
            <a:ext cx="12192000" cy="4635132"/>
          </a:xfrm>
          <a:prstGeom prst="rect">
            <a:avLst/>
          </a:prstGeom>
          <a:ln>
            <a:noFill/>
          </a:ln>
          <a:effectLst>
            <a:outerShdw blurRad="254000" dist="50800" dir="5400000" sx="97000" sy="97000" algn="t" rotWithShape="0">
              <a:srgbClr val="000000">
                <a:alpha val="2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5012268"/>
            <a:ext cx="4028615" cy="139033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463513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5012267"/>
            <a:ext cx="6400800" cy="139033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38637-30A6-46A1-905D-C43BFC64E403}" type="datetime1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88879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461C5781-4169-FC90-2551-F1D73FBC7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"/>
            <a:ext cx="12192000" cy="3778270"/>
          </a:xfrm>
          <a:prstGeom prst="rect">
            <a:avLst/>
          </a:prstGeom>
          <a:ln>
            <a:noFill/>
          </a:ln>
          <a:effectLst>
            <a:outerShdw blurRad="228600" dist="50800" dir="5400000" sx="97000" sy="97000" algn="t" rotWithShape="0">
              <a:srgbClr val="000000">
                <a:alpha val="2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162318"/>
            <a:ext cx="2953618" cy="206068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77827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15801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DBAE6-5400-4DF5-8C4B-BBB4EE1BC900}" type="datetime1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91928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682B848B-B9C7-8732-7DEB-4C1970F465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"/>
            <a:ext cx="12191999" cy="1347109"/>
          </a:xfrm>
          <a:prstGeom prst="rect">
            <a:avLst/>
          </a:prstGeom>
          <a:ln>
            <a:noFill/>
          </a:ln>
          <a:effectLst>
            <a:outerShdw blurRad="228600" dist="25400" dir="5400000" sx="94000" sy="94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128248" cy="524577"/>
          </a:xfrm>
        </p:spPr>
        <p:txBody>
          <a:bodyPr anchor="b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1347108"/>
            <a:ext cx="6831915" cy="5510891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62494" y="1804308"/>
            <a:ext cx="4251960" cy="44256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62494" y="6397586"/>
            <a:ext cx="961699" cy="365125"/>
          </a:xfrm>
        </p:spPr>
        <p:txBody>
          <a:bodyPr/>
          <a:lstStyle/>
          <a:p>
            <a:fld id="{0A184987-775C-414E-A434-6A26397CAAA1}" type="datetime1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76790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2655112C-BE7C-E373-6111-176B47FC81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586984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dist="38100" dir="5400000" sx="94000" sy="94000" algn="t" rotWithShape="0">
              <a:srgbClr val="000000">
                <a:alpha val="2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57200"/>
            <a:ext cx="4482573" cy="1453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59502" y="2175642"/>
            <a:ext cx="4380271" cy="412475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7A35F-A8C8-4DA9-BE13-530FB142BCA4}" type="datetime1">
              <a:rPr lang="en-US" smtClean="0"/>
              <a:t>5/17/2026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457201"/>
            <a:ext cx="5585925" cy="5875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48345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2655112C-BE7C-E373-6111-176B47FC81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0"/>
            <a:ext cx="5584207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dist="38100" dir="5400000" sx="94000" sy="94000" algn="t" rotWithShape="0">
              <a:srgbClr val="000000">
                <a:alpha val="2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4380272" cy="1453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2175642"/>
            <a:ext cx="5584206" cy="4682358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457201"/>
            <a:ext cx="5585925" cy="5875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0" y="6397586"/>
            <a:ext cx="2228193" cy="365125"/>
          </a:xfrm>
        </p:spPr>
        <p:txBody>
          <a:bodyPr/>
          <a:lstStyle/>
          <a:p>
            <a:fld id="{2E427443-1453-43D2-A6BE-3418A0D36CD6}" type="datetime1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37013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5809B3C-AC74-5DC3-09FA-57A871BE9A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-1"/>
            <a:ext cx="4612921" cy="6858001"/>
          </a:xfrm>
          <a:prstGeom prst="rect">
            <a:avLst/>
          </a:prstGeom>
          <a:ln>
            <a:noFill/>
          </a:ln>
          <a:effectLst>
            <a:outerShdw blurRad="228600" dist="25400" dir="5400000" sx="94000" sy="94000" algn="t" rotWithShape="0">
              <a:srgbClr val="000000">
                <a:alpha val="17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3815079" cy="1453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59503" y="2295144"/>
            <a:ext cx="3515063" cy="4005253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F4EFF-C2CF-47AD-8F36-4EE8C96E9290}" type="datetime1">
              <a:rPr lang="en-US" smtClean="0"/>
              <a:t>5/17/2026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43500" y="457200"/>
            <a:ext cx="6434138" cy="58515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80775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E16C637-FAC3-7DF2-CC8F-FE7D220ADE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8068234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04800" dist="50800" dir="5400000" sx="96000" sy="96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12B57A-5AF8-8EF0-32CC-A60A2FCCA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13064" y="1490472"/>
            <a:ext cx="3191256" cy="3886200"/>
          </a:xfrm>
        </p:spPr>
        <p:txBody>
          <a:bodyPr anchor="ctr">
            <a:normAutofit/>
          </a:bodyPr>
          <a:lstStyle>
            <a:lvl1pPr>
              <a:lnSpc>
                <a:spcPct val="110000"/>
              </a:lnSpc>
              <a:defRPr sz="2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EC150EA-B3AC-0583-FF59-664CCE07E94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1078992"/>
            <a:ext cx="7068312" cy="470916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90000"/>
              </a:lnSpc>
              <a:buNone/>
              <a:defRPr sz="225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E54E3B-6896-DB25-3CE5-508BA2AF4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A6790-75BA-414B-8318-2A9AAE2CCA04}" type="datetime1">
              <a:rPr lang="en-US" smtClean="0"/>
              <a:t>5/17/2026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5F8CBA-49FB-D90D-DFD0-9B5213A65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29D571-ECED-7C02-93F2-7A94DE270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30025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840E309F-AAB7-BC84-BA3D-1B758FB35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1999" cy="4939393"/>
          </a:xfrm>
          <a:prstGeom prst="rect">
            <a:avLst/>
          </a:prstGeom>
          <a:ln>
            <a:noFill/>
          </a:ln>
          <a:effectLst>
            <a:outerShdw blurRad="304800" dist="50800" dir="5400000" sx="96000" sy="96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12B57A-5AF8-8EF0-32CC-A60A2FCCA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296" y="5202936"/>
            <a:ext cx="9738360" cy="1152144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defRPr sz="2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EC150EA-B3AC-0583-FF59-664CCE07E94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676656"/>
            <a:ext cx="10543032" cy="3675888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E54E3B-6896-DB25-3CE5-508BA2AF4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07974-E5D4-4A20-A93A-AE6E2A45EC40}" type="datetime1">
              <a:rPr lang="en-US" smtClean="0"/>
              <a:t>5/17/2026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5F8CBA-49FB-D90D-DFD0-9B5213A65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29D571-ECED-7C02-93F2-7A94DE270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52203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BDFEE4E-D15F-E3E3-4D23-B7EF7744FFDB}"/>
              </a:ext>
            </a:extLst>
          </p:cNvPr>
          <p:cNvSpPr/>
          <p:nvPr/>
        </p:nvSpPr>
        <p:spPr>
          <a:xfrm>
            <a:off x="0" y="4939392"/>
            <a:ext cx="12192000" cy="191860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12B57A-5AF8-8EF0-32CC-A60A2FCCA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296" y="5321808"/>
            <a:ext cx="9738360" cy="1152144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EC150EA-B3AC-0583-FF59-664CCE07E94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676656"/>
            <a:ext cx="10543032" cy="3675888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3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E54E3B-6896-DB25-3CE5-508BA2AF4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B62F48-34F7-4906-AB1E-DB67FF6A62C8}" type="datetime1">
              <a:rPr lang="en-US" smtClean="0"/>
              <a:t>5/17/2026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5F8CBA-49FB-D90D-DFD0-9B5213A65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29D571-ECED-7C02-93F2-7A94DE270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09935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19864DF-9848-D6C8-9258-3A5CE47778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8907" y="0"/>
            <a:ext cx="903992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68300" dist="63500" dir="5400000" sx="97000" sy="97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417786"/>
            <a:ext cx="7811814" cy="5478517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5400" b="0">
                <a:solidFill>
                  <a:schemeClr val="tx2"/>
                </a:solidFill>
              </a:defRPr>
            </a:lvl1pPr>
            <a:lvl2pPr marL="228600" indent="0">
              <a:lnSpc>
                <a:spcPct val="100000"/>
              </a:lnSpc>
              <a:buNone/>
              <a:defRPr sz="4800" b="0">
                <a:solidFill>
                  <a:schemeClr val="tx2"/>
                </a:solidFill>
              </a:defRPr>
            </a:lvl2pPr>
            <a:lvl3pPr marL="457200" indent="0">
              <a:lnSpc>
                <a:spcPct val="100000"/>
              </a:lnSpc>
              <a:buNone/>
              <a:defRPr sz="4400" b="0">
                <a:solidFill>
                  <a:schemeClr val="tx2"/>
                </a:solidFill>
              </a:defRPr>
            </a:lvl3pPr>
            <a:lvl4pPr marL="685800" indent="0">
              <a:lnSpc>
                <a:spcPct val="100000"/>
              </a:lnSpc>
              <a:buNone/>
              <a:defRPr sz="4000" b="0">
                <a:solidFill>
                  <a:schemeClr val="tx2"/>
                </a:solidFill>
              </a:defRPr>
            </a:lvl4pPr>
            <a:lvl5pPr marL="914400" indent="0">
              <a:lnSpc>
                <a:spcPct val="100000"/>
              </a:lnSpc>
              <a:buNone/>
              <a:defRPr sz="3600"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0EF676-3A05-40A6-B180-72322A5ACAD8}" type="datetime1">
              <a:rPr lang="en-US" smtClean="0"/>
              <a:t>5/17/2026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06070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199" y="1929384"/>
            <a:ext cx="8421625" cy="4142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5000" b="1">
                <a:solidFill>
                  <a:schemeClr val="accent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4400" b="1">
                <a:solidFill>
                  <a:schemeClr val="accent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4000" b="1">
                <a:solidFill>
                  <a:schemeClr val="accent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3600" b="1">
                <a:solidFill>
                  <a:schemeClr val="accent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32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933F6-6BEC-43B7-8100-A475DA47F46D}" type="datetime1">
              <a:rPr lang="en-US" smtClean="0"/>
              <a:t>5/17/2026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18494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199" y="1929384"/>
            <a:ext cx="8421625" cy="4142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5000" b="1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4400" b="1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4000" b="1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3600" b="1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32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38DC96-A184-437F-B9D7-7C48236B62EE}" type="datetime1">
              <a:rPr lang="en-US" smtClean="0"/>
              <a:t>5/17/2026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4026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88044ED-5E9D-7194-BECA-3B3CCEF31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1999" cy="4939393"/>
          </a:xfrm>
          <a:prstGeom prst="rect">
            <a:avLst/>
          </a:prstGeom>
          <a:ln>
            <a:noFill/>
          </a:ln>
          <a:effectLst>
            <a:outerShdw blurRad="304800" dist="50800" dir="5400000" sx="96000" sy="96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BDC66A-C0BD-2A7E-C00B-2DB0DFCFA7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8799" y="5592286"/>
            <a:ext cx="9288461" cy="612820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/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E101DD-071D-875F-2EFE-1B5F7F94E90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34073" y="706213"/>
            <a:ext cx="9473188" cy="3526970"/>
          </a:xfrm>
        </p:spPr>
        <p:txBody>
          <a:bodyPr anchor="ctr">
            <a:normAutofit/>
          </a:bodyPr>
          <a:lstStyle>
            <a:lvl1pPr marL="173736" indent="-173736">
              <a:lnSpc>
                <a:spcPct val="100000"/>
              </a:lnSpc>
              <a:buNone/>
              <a:defRPr sz="5400">
                <a:solidFill>
                  <a:schemeClr val="accent1"/>
                </a:solidFill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EC3402-09CE-02D1-1430-5F8B46133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E31BB-E6D8-4FC3-85ED-2E82AF5557ED}" type="datetime1">
              <a:rPr lang="en-US" smtClean="0"/>
              <a:t>5/17/2026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A1E84E-4052-C573-9A98-749E34E10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975E38-B7A2-CB8F-C4CD-E2DC374D4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87358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88044ED-5E9D-7194-BECA-3B3CCEF31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1999" cy="4939393"/>
          </a:xfrm>
          <a:prstGeom prst="rect">
            <a:avLst/>
          </a:prstGeom>
          <a:ln>
            <a:noFill/>
          </a:ln>
          <a:effectLst>
            <a:outerShdw blurRad="304800" dist="50800" dir="5400000" sx="96000" sy="96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BDC66A-C0BD-2A7E-C00B-2DB0DFCFA7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5522976"/>
            <a:ext cx="8970264" cy="758952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E101DD-071D-875F-2EFE-1B5F7F94E90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493776"/>
            <a:ext cx="9116568" cy="3785616"/>
          </a:xfrm>
        </p:spPr>
        <p:txBody>
          <a:bodyPr anchor="t">
            <a:normAutofit/>
          </a:bodyPr>
          <a:lstStyle>
            <a:lvl1pPr marL="173736" indent="-173736">
              <a:lnSpc>
                <a:spcPct val="100000"/>
              </a:lnSpc>
              <a:buNone/>
              <a:defRPr sz="4400">
                <a:solidFill>
                  <a:schemeClr val="tx2"/>
                </a:solidFill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EC3402-09CE-02D1-1430-5F8B46133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B44A-3E31-40DB-9C1C-EA37B8CF3D29}" type="datetime1">
              <a:rPr lang="en-US" smtClean="0"/>
              <a:t>5/17/2026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A1E84E-4052-C573-9A98-749E34E10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975E38-B7A2-CB8F-C4CD-E2DC374D4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78438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3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DC66A-C0BD-2A7E-C00B-2DB0DFCFA7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45920" y="5349240"/>
            <a:ext cx="9125712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 b="1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E101DD-071D-875F-2EFE-1B5F7F94E90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344168"/>
            <a:ext cx="9272016" cy="3291840"/>
          </a:xfrm>
        </p:spPr>
        <p:txBody>
          <a:bodyPr anchor="ctr">
            <a:normAutofit/>
          </a:bodyPr>
          <a:lstStyle>
            <a:lvl1pPr marL="155448" indent="-155448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tx1"/>
                </a:solidFill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EC3402-09CE-02D1-1430-5F8B46133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C5EF5-452C-4906-9430-46AFA6914090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A1E84E-4052-C573-9A98-749E34E10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975E38-B7A2-CB8F-C4CD-E2DC374D4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1410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26E94611-9B68-3A55-1A34-78D9B5624A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"/>
            <a:ext cx="12191999" cy="1347109"/>
          </a:xfrm>
          <a:prstGeom prst="rect">
            <a:avLst/>
          </a:prstGeom>
          <a:ln>
            <a:noFill/>
          </a:ln>
          <a:effectLst>
            <a:outerShdw blurRad="203200" dist="25400" dir="5400000" sx="93000" sy="93000" algn="t" rotWithShape="0">
              <a:srgbClr val="000000">
                <a:alpha val="1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457200"/>
            <a:ext cx="10896601" cy="693682"/>
          </a:xfrm>
        </p:spPr>
        <p:txBody>
          <a:bodyPr anchor="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F459E97E-8FC7-B733-70B9-149BF8E5673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1801813"/>
            <a:ext cx="5184775" cy="45339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8138CB4F-4B83-4189-07B7-090705EAE73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172200" y="1801813"/>
            <a:ext cx="5181600" cy="45339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A8A9E-6014-4EAF-AF8C-DE506112FCE3}" type="datetime1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08349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19884ADE-F00C-2AA5-CD3A-1CBC4D425B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"/>
            <a:ext cx="12191999" cy="1347109"/>
          </a:xfrm>
          <a:prstGeom prst="rect">
            <a:avLst/>
          </a:prstGeom>
          <a:ln>
            <a:noFill/>
          </a:ln>
          <a:effectLst>
            <a:outerShdw blurRad="215900" dist="25400" dir="5400000" sx="93000" sy="93000" algn="t" rotWithShape="0">
              <a:srgbClr val="000000">
                <a:alpha val="1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57201"/>
            <a:ext cx="10898189" cy="693682"/>
          </a:xfrm>
        </p:spPr>
        <p:txBody>
          <a:bodyPr anchor="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804308"/>
            <a:ext cx="5184648" cy="534033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1" cap="all" spc="1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FF6CC536-A5EA-3E8E-C528-86BFE808AB6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2479675"/>
            <a:ext cx="5184775" cy="38560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04308"/>
            <a:ext cx="5183188" cy="534033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1" cap="all" spc="1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168B3863-5AFD-7644-B21D-D6057B97D82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172200" y="2479675"/>
            <a:ext cx="5183188" cy="385445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17D5E-8A79-4DD3-BE13-DF14ED636E04}" type="datetime1">
              <a:rPr lang="en-US" smtClean="0"/>
              <a:t>5/17/2026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25818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0809026" cy="1132258"/>
          </a:xfrm>
        </p:spPr>
        <p:txBody>
          <a:bodyPr anchor="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CCB83-67C0-4146-80A2-38BF8BF923CD}" type="datetime1">
              <a:rPr lang="en-US" smtClean="0"/>
              <a:t>5/17/2026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96913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AEF15-3690-448A-9A10-B99AE5FD6247}" type="datetime1">
              <a:rPr lang="en-US" smtClean="0"/>
              <a:t>5/17/2026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17458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45E2D00-4497-60C5-E8FC-FA83BE12E5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-2"/>
            <a:ext cx="4604129" cy="685800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dist="25400" dir="5400000" sx="94000" sy="94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57200"/>
            <a:ext cx="3657601" cy="175750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199" y="2585544"/>
            <a:ext cx="3657601" cy="3675231"/>
          </a:xfrm>
        </p:spPr>
        <p:txBody>
          <a:bodyPr anchor="b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457201"/>
            <a:ext cx="6440258" cy="585152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229EA-0834-493E-B1B3-967EBDB83C2A}" type="datetime1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59907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4FBFB14-839E-7A12-0510-8689D86E6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05423" y="0"/>
            <a:ext cx="7586578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dist="25400" dir="5400000" sx="97000" sy="97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57200"/>
            <a:ext cx="3688868" cy="2212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2823" y="2826137"/>
            <a:ext cx="3673508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1A882-A300-45C5-B296-61F099B2F728}" type="datetime1">
              <a:rPr lang="en-US" smtClean="0"/>
              <a:t>5/17/2026</a:t>
            </a:fld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163207" y="557785"/>
            <a:ext cx="6471008" cy="574243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63112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2655738-04DB-F8B9-B985-BD4FFF625D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-5418"/>
            <a:ext cx="12191999" cy="2583080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  <a:effectLst>
            <a:outerShdw blurRad="228600" dist="25400" dir="5400000" sx="94000" sy="94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835572"/>
            <a:ext cx="10894348" cy="1434662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1044" y="3593592"/>
            <a:ext cx="10890504" cy="2743200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B303336-736F-4DC6-8BCC-19A34886AFBB}" type="datetime1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9536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D936B30-203F-4712-8AB4-D6468F071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-24264"/>
            <a:ext cx="12191999" cy="429918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54000" dist="25400" dir="5400000" sx="96000" sy="96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01111"/>
            <a:ext cx="8430767" cy="2940268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4696445"/>
            <a:ext cx="8430639" cy="127961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228600" indent="0">
              <a:buNone/>
              <a:defRPr sz="2000">
                <a:solidFill>
                  <a:schemeClr val="tx2"/>
                </a:solidFill>
              </a:defRPr>
            </a:lvl2pPr>
            <a:lvl3pPr marL="457200" indent="0">
              <a:buNone/>
              <a:defRPr sz="1800">
                <a:solidFill>
                  <a:schemeClr val="tx2"/>
                </a:solidFill>
              </a:defRPr>
            </a:lvl3pPr>
            <a:lvl4pPr marL="685800" indent="0">
              <a:buNone/>
              <a:defRPr sz="1600">
                <a:solidFill>
                  <a:schemeClr val="tx2"/>
                </a:solidFill>
              </a:defRPr>
            </a:lvl4pPr>
            <a:lvl5pPr marL="914400" indent="0">
              <a:buNone/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EB525-A897-439A-8E04-7CB2CC010758}" type="datetime1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531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nt">
            <a:extLst>
              <a:ext uri="{FF2B5EF4-FFF2-40B4-BE49-F238E27FC236}">
                <a16:creationId xmlns:a16="http://schemas.microsoft.com/office/drawing/2014/main" id="{F3CE03C6-DBD5-2C9E-3C9A-B3B83F63A5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0809026" cy="9702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1" y="1595301"/>
            <a:ext cx="10809026" cy="47140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199" y="6397586"/>
            <a:ext cx="404385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fld id="{A2CB6EF1-C97E-4439-84B9-F600DFD8C04B}" type="datetime1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24193" y="6397586"/>
            <a:ext cx="323813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2323" y="6397586"/>
            <a:ext cx="5305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288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662" r:id="rId2"/>
    <p:sldLayoutId id="2147483698" r:id="rId3"/>
    <p:sldLayoutId id="2147483728" r:id="rId4"/>
    <p:sldLayoutId id="2147483777" r:id="rId5"/>
    <p:sldLayoutId id="2147483801" r:id="rId6"/>
    <p:sldLayoutId id="2147483800" r:id="rId7"/>
    <p:sldLayoutId id="2147483761" r:id="rId8"/>
    <p:sldLayoutId id="2147483760" r:id="rId9"/>
    <p:sldLayoutId id="2147483786" r:id="rId10"/>
    <p:sldLayoutId id="2147483788" r:id="rId11"/>
    <p:sldLayoutId id="2147483679" r:id="rId12"/>
    <p:sldLayoutId id="2147483680" r:id="rId13"/>
    <p:sldLayoutId id="2147483681" r:id="rId14"/>
    <p:sldLayoutId id="2147483682" r:id="rId15"/>
    <p:sldLayoutId id="2147483706" r:id="rId16"/>
    <p:sldLayoutId id="2147483789" r:id="rId17"/>
    <p:sldLayoutId id="2147483767" r:id="rId18"/>
    <p:sldLayoutId id="2147483689" r:id="rId19"/>
    <p:sldLayoutId id="2147483690" r:id="rId20"/>
    <p:sldLayoutId id="2147483707" r:id="rId21"/>
    <p:sldLayoutId id="2147483708" r:id="rId22"/>
    <p:sldLayoutId id="2147483692" r:id="rId23"/>
    <p:sldLayoutId id="2147483691" r:id="rId24"/>
    <p:sldLayoutId id="2147483733" r:id="rId25"/>
    <p:sldLayoutId id="2147483731" r:id="rId26"/>
    <p:sldLayoutId id="2147483780" r:id="rId27"/>
    <p:sldLayoutId id="2147483694" r:id="rId28"/>
    <p:sldLayoutId id="2147483726" r:id="rId29"/>
    <p:sldLayoutId id="2147483693" r:id="rId30"/>
    <p:sldLayoutId id="2147483672" r:id="rId31"/>
    <p:sldLayoutId id="2147483756" r:id="rId32"/>
    <p:sldLayoutId id="2147483757" r:id="rId33"/>
    <p:sldLayoutId id="2147483696" r:id="rId34"/>
    <p:sldLayoutId id="2147483796" r:id="rId35"/>
    <p:sldLayoutId id="2147483797" r:id="rId36"/>
    <p:sldLayoutId id="2147483798" r:id="rId37"/>
    <p:sldLayoutId id="2147483747" r:id="rId38"/>
    <p:sldLayoutId id="2147483749" r:id="rId39"/>
    <p:sldLayoutId id="2147483759" r:id="rId40"/>
    <p:sldLayoutId id="2147483790" r:id="rId41"/>
    <p:sldLayoutId id="2147483791" r:id="rId42"/>
    <p:sldLayoutId id="2147483792" r:id="rId43"/>
    <p:sldLayoutId id="2147483664" r:id="rId44"/>
    <p:sldLayoutId id="2147483665" r:id="rId45"/>
    <p:sldLayoutId id="2147483666" r:id="rId46"/>
    <p:sldLayoutId id="2147483667" r:id="rId47"/>
    <p:sldLayoutId id="2147483668" r:id="rId48"/>
    <p:sldLayoutId id="2147483784" r:id="rId49"/>
    <p:sldLayoutId id="2147483783" r:id="rId50"/>
    <p:sldLayoutId id="2147483687" r:id="rId5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4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4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openparldata.ch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7" Type="http://schemas.openxmlformats.org/officeDocument/2006/relationships/hyperlink" Target="https://www.facebook.com/ParlCH/posts/-die-dienst%C3%A4ltesten-im-schweizer-parlament-%EF%B8%8Fwussten-sie-dass-einige-parlamentari/1044973737669218/" TargetMode="External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45.xml"/><Relationship Id="rId6" Type="http://schemas.openxmlformats.org/officeDocument/2006/relationships/hyperlink" Target="https://commons.wikimedia.org/wiki/File:ETH-BIB-Eduard_von_Waldkirch-Com_L20-0941-0030.tif?page=1" TargetMode="External"/><Relationship Id="rId5" Type="http://schemas.openxmlformats.org/officeDocument/2006/relationships/hyperlink" Target="https://www.derbund.ch/toni-brunner-steigt-zum-juengsten-alterspraesidenten-seit-1848-auf-851432156326" TargetMode="External"/><Relationship Id="rId4" Type="http://schemas.openxmlformats.org/officeDocument/2006/relationships/image" Target="../media/image21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vdss.cboss.dev/" TargetMode="External"/><Relationship Id="rId2" Type="http://schemas.openxmlformats.org/officeDocument/2006/relationships/hyperlink" Target="https://vdss.cboss.dev/streamlit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7255E-6853-BB83-7133-86B9BA5F4D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Werden </a:t>
            </a:r>
            <a:r>
              <a:rPr lang="de-DE" dirty="0" err="1"/>
              <a:t>Bundespolitiker:innen</a:t>
            </a:r>
            <a:r>
              <a:rPr lang="de-DE" dirty="0"/>
              <a:t> immer älter?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FCBEA1-E252-3D74-753F-46A1483CA8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198" y="5915481"/>
            <a:ext cx="11277603" cy="786384"/>
          </a:xfrm>
        </p:spPr>
        <p:txBody>
          <a:bodyPr/>
          <a:lstStyle/>
          <a:p>
            <a:r>
              <a:rPr lang="de-CH" dirty="0"/>
              <a:t>VDSS-Visualisierungsprojekt, Gruppe 4</a:t>
            </a:r>
            <a:br>
              <a:rPr lang="de-CH" dirty="0"/>
            </a:br>
            <a:r>
              <a:rPr lang="en-GB" dirty="0"/>
              <a:t>Christian Bosshard, Enea D. Fedel</a:t>
            </a:r>
            <a:endParaRPr lang="en-US" dirty="0"/>
          </a:p>
        </p:txBody>
      </p:sp>
      <p:pic>
        <p:nvPicPr>
          <p:cNvPr id="6" name="Picture Placeholder 5" descr="A close-up of a stone staircase&#10;&#10;AI-generated content may be incorrect.">
            <a:extLst>
              <a:ext uri="{FF2B5EF4-FFF2-40B4-BE49-F238E27FC236}">
                <a16:creationId xmlns:a16="http://schemas.microsoft.com/office/drawing/2014/main" id="{01565D74-0ECB-3EC5-0917-A704BF0D80D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573" b="19573"/>
          <a:stretch>
            <a:fillRect/>
          </a:stretch>
        </p:blipFill>
        <p:spPr/>
      </p:pic>
      <p:pic>
        <p:nvPicPr>
          <p:cNvPr id="1032" name="Picture 8" descr="Ein virtueller Ausflug nach Bundesbern - Language matters.">
            <a:extLst>
              <a:ext uri="{FF2B5EF4-FFF2-40B4-BE49-F238E27FC236}">
                <a16:creationId xmlns:a16="http://schemas.microsoft.com/office/drawing/2014/main" id="{DC7AFD2F-D5B0-0897-1F36-D81C7252CC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915" b="7609"/>
          <a:stretch>
            <a:fillRect/>
          </a:stretch>
        </p:blipFill>
        <p:spPr bwMode="auto">
          <a:xfrm>
            <a:off x="-1" y="0"/>
            <a:ext cx="12192000" cy="4944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D5B25828-E593-9026-4A39-D1E234B8781B}"/>
              </a:ext>
            </a:extLst>
          </p:cNvPr>
          <p:cNvSpPr txBox="1">
            <a:spLocks/>
          </p:cNvSpPr>
          <p:nvPr/>
        </p:nvSpPr>
        <p:spPr>
          <a:xfrm>
            <a:off x="10416480" y="5907513"/>
            <a:ext cx="1470721" cy="7863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br>
              <a:rPr lang="de-CH" dirty="0"/>
            </a:br>
            <a:r>
              <a:rPr lang="de-CH" dirty="0"/>
              <a:t>2026-05-18</a:t>
            </a:r>
          </a:p>
        </p:txBody>
      </p:sp>
    </p:spTree>
    <p:extLst>
      <p:ext uri="{BB962C8B-B14F-4D97-AF65-F5344CB8AC3E}">
        <p14:creationId xmlns:p14="http://schemas.microsoft.com/office/powerpoint/2010/main" val="27012530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BCBB4-6BBC-16DF-93BB-EA036B1A2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457200"/>
            <a:ext cx="10896601" cy="693682"/>
          </a:xfrm>
        </p:spPr>
        <p:txBody>
          <a:bodyPr anchor="t">
            <a:normAutofit/>
          </a:bodyPr>
          <a:lstStyle/>
          <a:p>
            <a:r>
              <a:rPr lang="de-CH" dirty="0"/>
              <a:t>Thema und Hauptziel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86F81D-7352-4745-5A3C-C8E2731EEEF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1801813"/>
            <a:ext cx="6502896" cy="4533900"/>
          </a:xfrm>
        </p:spPr>
        <p:txBody>
          <a:bodyPr>
            <a:normAutofit/>
          </a:bodyPr>
          <a:lstStyle/>
          <a:p>
            <a:r>
              <a:rPr lang="de-DE" sz="1800" b="1" dirty="0"/>
              <a:t>Hypothese: </a:t>
            </a:r>
            <a:r>
              <a:rPr lang="de-DE" sz="1800" dirty="0"/>
              <a:t>„Das Schweizer Bundesparlament wird zunehmend von älteren Personen dominiert.”</a:t>
            </a:r>
          </a:p>
          <a:p>
            <a:r>
              <a:rPr lang="de-DE" sz="1800" b="1" dirty="0"/>
              <a:t>Frage:</a:t>
            </a:r>
            <a:r>
              <a:rPr lang="de-DE" sz="1800" dirty="0"/>
              <a:t> Stimmt das wirklich, oder ist es ein populärer Mythos?</a:t>
            </a:r>
          </a:p>
          <a:p>
            <a:r>
              <a:rPr lang="de-DE" sz="1800" b="1" dirty="0"/>
              <a:t>Produkt:</a:t>
            </a:r>
            <a:r>
              <a:rPr lang="de-DE" sz="1800" dirty="0"/>
              <a:t> Interaktives, vierseitiges </a:t>
            </a:r>
            <a:r>
              <a:rPr lang="de-DE" sz="1800" dirty="0" err="1"/>
              <a:t>Streamlit</a:t>
            </a:r>
            <a:r>
              <a:rPr lang="de-DE" sz="1800" dirty="0"/>
              <a:t>-Dashboard, das die Hypothese überprüft, mit den offiziellen Personen- und Mitgliedschaftsdaten von </a:t>
            </a:r>
            <a:r>
              <a:rPr lang="de-DE" sz="1800" dirty="0" err="1"/>
              <a:t>OpenParlData</a:t>
            </a:r>
            <a:r>
              <a:rPr lang="de-DE" sz="1800" dirty="0"/>
              <a:t> (1850 bis 2025).</a:t>
            </a:r>
            <a:endParaRPr lang="LID4096" sz="1800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3C2419E-AB00-E608-A5B9-7DE0EE22EC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76120" y="2431875"/>
            <a:ext cx="4177680" cy="2639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7326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D87B4-25AF-2016-101D-C0ADC1685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Zielgruppe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24780-0F6A-8969-8346-661FD36268E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1" y="1801813"/>
            <a:ext cx="5181600" cy="45339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CH" sz="1800" b="1" dirty="0"/>
              <a:t>Sarah, 31, Datenjournalistin</a:t>
            </a:r>
          </a:p>
          <a:p>
            <a:r>
              <a:rPr lang="de-DE" sz="1800" dirty="0"/>
              <a:t>Will eine populäre </a:t>
            </a:r>
            <a:br>
              <a:rPr lang="de-DE" sz="1800" dirty="0"/>
            </a:br>
            <a:r>
              <a:rPr lang="de-DE" sz="1800" dirty="0"/>
              <a:t>Behauptung schnell </a:t>
            </a:r>
            <a:br>
              <a:rPr lang="de-DE" sz="1800" dirty="0"/>
            </a:br>
            <a:r>
              <a:rPr lang="de-DE" sz="1800" dirty="0"/>
              <a:t>verifizieren.</a:t>
            </a:r>
          </a:p>
          <a:p>
            <a:r>
              <a:rPr lang="de-DE" sz="1800" dirty="0"/>
              <a:t>Braucht zitierfähige </a:t>
            </a:r>
            <a:br>
              <a:rPr lang="de-DE" sz="1800" dirty="0"/>
            </a:br>
            <a:r>
              <a:rPr lang="de-DE" sz="1800" dirty="0"/>
              <a:t>Zahlen mit Stichtag und Quelle.</a:t>
            </a:r>
          </a:p>
          <a:p>
            <a:r>
              <a:rPr lang="de-DE" sz="1800" dirty="0"/>
              <a:t>Sucht konkrete Personen für anekdotische Aufhänger.</a:t>
            </a:r>
            <a:endParaRPr lang="LID4096" sz="18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3F7B3F-FFB9-C095-CC52-416CCE70BACB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sz="1800" b="1" dirty="0"/>
              <a:t>Marco, 23, politisch interessierter Bürger</a:t>
            </a:r>
          </a:p>
          <a:p>
            <a:r>
              <a:rPr lang="de-DE" sz="1800" dirty="0"/>
              <a:t>Will sich ohne Fachjargon </a:t>
            </a:r>
            <a:br>
              <a:rPr lang="de-DE" sz="1800" dirty="0"/>
            </a:br>
            <a:r>
              <a:rPr lang="de-DE" sz="1800" dirty="0"/>
              <a:t>ein Bild machen.</a:t>
            </a:r>
          </a:p>
          <a:p>
            <a:r>
              <a:rPr lang="de-DE" sz="1800" dirty="0"/>
              <a:t>Nutzt eher Tablet oder</a:t>
            </a:r>
            <a:br>
              <a:rPr lang="de-DE" sz="1800" dirty="0"/>
            </a:br>
            <a:r>
              <a:rPr lang="de-DE" sz="1800" dirty="0"/>
              <a:t>Smartphone.</a:t>
            </a:r>
          </a:p>
          <a:p>
            <a:r>
              <a:rPr lang="de-DE" sz="1800" dirty="0"/>
              <a:t>Erwartet eine klare Hauptantwort vor allen Details.</a:t>
            </a:r>
          </a:p>
          <a:p>
            <a:endParaRPr lang="LID4096" sz="1800" b="1" dirty="0"/>
          </a:p>
        </p:txBody>
      </p:sp>
      <p:pic>
        <p:nvPicPr>
          <p:cNvPr id="2054" name="Picture 6" descr="130,829 Journalists Work Royalty-Free Images, Stock Photos &amp; Pictures |  Shutterstock">
            <a:extLst>
              <a:ext uri="{FF2B5EF4-FFF2-40B4-BE49-F238E27FC236}">
                <a16:creationId xmlns:a16="http://schemas.microsoft.com/office/drawing/2014/main" id="{297BDCCD-15E4-298C-0983-ED75F8E400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43" t="4836" r="4348" b="16437"/>
          <a:stretch>
            <a:fillRect/>
          </a:stretch>
        </p:blipFill>
        <p:spPr bwMode="auto">
          <a:xfrm>
            <a:off x="3143672" y="2204864"/>
            <a:ext cx="2232248" cy="1527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2,728 Boy Walking Cell Phone Royalty-Free Images, Stock Photos &amp; Pictures |  Shutterstock">
            <a:extLst>
              <a:ext uri="{FF2B5EF4-FFF2-40B4-BE49-F238E27FC236}">
                <a16:creationId xmlns:a16="http://schemas.microsoft.com/office/drawing/2014/main" id="{CAD3AC61-9F25-A7F4-3B37-5D727A817B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78" r="18985" b="6800"/>
          <a:stretch>
            <a:fillRect/>
          </a:stretch>
        </p:blipFill>
        <p:spPr bwMode="auto">
          <a:xfrm>
            <a:off x="9120336" y="2204864"/>
            <a:ext cx="1769851" cy="1527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81050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DEA2E-3EB6-FEC1-110B-829710C74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Narrative Elemente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90554A-D02D-29B7-E90D-B251C5A610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e-DE" sz="1800" b="1" dirty="0"/>
              <a:t>Rahmen:</a:t>
            </a:r>
            <a:r>
              <a:rPr lang="de-DE" sz="1800" dirty="0"/>
              <a:t> Myth-</a:t>
            </a:r>
            <a:r>
              <a:rPr lang="de-DE" sz="1800" dirty="0" err="1"/>
              <a:t>Busting</a:t>
            </a:r>
            <a:r>
              <a:rPr lang="de-DE" sz="1800" dirty="0"/>
              <a:t>. Wir starten mit dem Bauchgefühl und zeigen, wo es trägt und wo nicht.</a:t>
            </a:r>
          </a:p>
          <a:p>
            <a:r>
              <a:rPr lang="de-DE" sz="1800" b="1" dirty="0"/>
              <a:t>Storytelling über vier Seiten:</a:t>
            </a:r>
          </a:p>
          <a:p>
            <a:pPr lvl="1"/>
            <a:r>
              <a:rPr lang="de-DE" sz="1800" dirty="0"/>
              <a:t>Headline (Antwort vorweg)</a:t>
            </a:r>
          </a:p>
          <a:p>
            <a:pPr lvl="1"/>
            <a:r>
              <a:rPr lang="de-DE" sz="1800" dirty="0"/>
              <a:t>Aufschlüsselung (wer wird älter)</a:t>
            </a:r>
          </a:p>
          <a:p>
            <a:pPr lvl="1"/>
            <a:r>
              <a:rPr lang="de-DE" sz="1800" dirty="0"/>
              <a:t>Mechanismus (warum)</a:t>
            </a:r>
          </a:p>
          <a:p>
            <a:pPr lvl="1"/>
            <a:r>
              <a:rPr lang="de-DE" sz="1800" dirty="0"/>
              <a:t>Personen (konkrete Namen)</a:t>
            </a:r>
          </a:p>
          <a:p>
            <a:r>
              <a:rPr lang="de-DE" sz="1800" b="1" dirty="0"/>
              <a:t>Visuelle Mittel:</a:t>
            </a:r>
          </a:p>
          <a:p>
            <a:pPr lvl="1"/>
            <a:r>
              <a:rPr lang="de-DE" sz="1800" dirty="0"/>
              <a:t>konsistente Farbcodierung (NR dunkelblau, SR orange)</a:t>
            </a:r>
          </a:p>
          <a:p>
            <a:pPr lvl="1"/>
            <a:r>
              <a:rPr lang="de-DE" sz="1800" dirty="0"/>
              <a:t>175-Jahre-Zeitachse für historische Tiefe</a:t>
            </a:r>
          </a:p>
          <a:p>
            <a:pPr lvl="1"/>
            <a:r>
              <a:rPr lang="de-DE" sz="1800" dirty="0"/>
              <a:t>Interaktive Visualisierungen mithilfe </a:t>
            </a:r>
            <a:r>
              <a:rPr lang="de-DE" sz="1800" dirty="0" err="1"/>
              <a:t>Plotly</a:t>
            </a:r>
            <a:endParaRPr lang="de-DE" sz="1800" dirty="0"/>
          </a:p>
          <a:p>
            <a:r>
              <a:rPr lang="de-DE" sz="1800" b="1" dirty="0"/>
              <a:t>Vergleich mit bestehender Berichterstattung:</a:t>
            </a:r>
            <a:r>
              <a:rPr lang="de-DE" sz="1800" dirty="0"/>
              <a:t> </a:t>
            </a:r>
            <a:r>
              <a:rPr lang="de-DE" sz="1800" dirty="0" err="1"/>
              <a:t>Swissinfo</a:t>
            </a:r>
            <a:r>
              <a:rPr lang="de-DE" sz="1800" dirty="0"/>
              <a:t> 2019 berichtete vom „jüngsten Nationalrat aller Zeiten”. Wir setzen das in den 175-Jahre-Kontext.</a:t>
            </a:r>
          </a:p>
        </p:txBody>
      </p:sp>
    </p:spTree>
    <p:extLst>
      <p:ext uri="{BB962C8B-B14F-4D97-AF65-F5344CB8AC3E}">
        <p14:creationId xmlns:p14="http://schemas.microsoft.com/office/powerpoint/2010/main" val="2746412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C075E-76A0-E801-F8A7-E1FC9E4FC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Datensatz und Pipeline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4977B-3FCB-7782-E09F-27F6299F63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CH" sz="1800" b="1" dirty="0"/>
              <a:t>Quelle:</a:t>
            </a:r>
            <a:r>
              <a:rPr lang="de-CH" sz="1800" dirty="0"/>
              <a:t> </a:t>
            </a:r>
            <a:r>
              <a:rPr lang="de-CH" sz="1800" dirty="0">
                <a:hlinkClick r:id="rId2"/>
              </a:rPr>
              <a:t>openparldata.ch</a:t>
            </a:r>
            <a:r>
              <a:rPr lang="de-CH" sz="1800" dirty="0"/>
              <a:t>, wöchentlich aktualisierte NDJSON-Exporte.</a:t>
            </a:r>
          </a:p>
          <a:p>
            <a:r>
              <a:rPr lang="de-CH" sz="1800" b="1" dirty="0"/>
              <a:t>Verwendete Tabellen:</a:t>
            </a:r>
            <a:r>
              <a:rPr lang="de-CH" sz="1800" dirty="0"/>
              <a:t> </a:t>
            </a:r>
            <a:r>
              <a:rPr lang="de-CH" sz="1800" dirty="0" err="1"/>
              <a:t>persons.ndjson</a:t>
            </a:r>
            <a:r>
              <a:rPr lang="de-CH" sz="1800" dirty="0"/>
              <a:t> (~24’000) und </a:t>
            </a:r>
            <a:r>
              <a:rPr lang="de-CH" sz="1800" dirty="0" err="1"/>
              <a:t>memberships.ndjson</a:t>
            </a:r>
            <a:r>
              <a:rPr lang="de-CH" sz="1800" dirty="0"/>
              <a:t> (~248’000).</a:t>
            </a:r>
          </a:p>
          <a:p>
            <a:r>
              <a:rPr lang="de-CH" sz="1800" b="1" dirty="0"/>
              <a:t>Nach Filterung:</a:t>
            </a:r>
            <a:endParaRPr lang="de-CH" sz="1800" dirty="0"/>
          </a:p>
          <a:p>
            <a:pPr lvl="1"/>
            <a:r>
              <a:rPr lang="de-CH" sz="1800" dirty="0"/>
              <a:t>3’546 </a:t>
            </a:r>
            <a:r>
              <a:rPr lang="de-CH" sz="1800" dirty="0" err="1"/>
              <a:t>Bundespolitiker:innen</a:t>
            </a:r>
            <a:r>
              <a:rPr lang="de-CH" sz="1800" dirty="0"/>
              <a:t> mit gültigem Geburtsdatum</a:t>
            </a:r>
          </a:p>
          <a:p>
            <a:pPr lvl="1"/>
            <a:r>
              <a:rPr lang="de-CH" sz="1800" dirty="0"/>
              <a:t>5’399 Mandate in Nationalrat oder Ständerat</a:t>
            </a:r>
          </a:p>
          <a:p>
            <a:pPr lvl="1"/>
            <a:r>
              <a:rPr lang="de-CH" sz="1800" dirty="0"/>
              <a:t>175 Jahre Beobachtungszeit (1850 bis 2025)</a:t>
            </a:r>
          </a:p>
          <a:p>
            <a:r>
              <a:rPr lang="de-CH" sz="1800" b="1" dirty="0"/>
              <a:t>Pipeline:</a:t>
            </a:r>
            <a:r>
              <a:rPr lang="de-CH" sz="1800" dirty="0"/>
              <a:t> vier Skripte, vollständig in Python, reproduzierbar via </a:t>
            </a:r>
            <a:r>
              <a:rPr lang="de-CH" sz="1800" dirty="0" err="1"/>
              <a:t>uv</a:t>
            </a:r>
            <a:r>
              <a:rPr lang="de-CH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737245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7D2A6-BABC-1ED2-C5B7-0326519E1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Seite 1: Headline. Stimmt die These?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5E86B1-467B-2FC9-8B4D-8F733925D8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sz="1800" dirty="0"/>
              <a:t>Median-Alter NR und SR, 1850 bis 2025</a:t>
            </a:r>
          </a:p>
          <a:p>
            <a:pPr marL="0" indent="0">
              <a:buNone/>
            </a:pPr>
            <a:r>
              <a:rPr lang="de-DE" sz="1800" b="1" dirty="0"/>
              <a:t>Antwort:</a:t>
            </a:r>
            <a:r>
              <a:rPr lang="de-DE" sz="1800" dirty="0"/>
              <a:t> Für den Nationalrat stimmt sie </a:t>
            </a:r>
            <a:r>
              <a:rPr lang="de-DE" sz="1800" b="1" dirty="0"/>
              <a:t>nicht</a:t>
            </a:r>
            <a:r>
              <a:rPr lang="de-DE" sz="1800" dirty="0"/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BC0F6EB-1007-7750-B809-0A78E7C04C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92" y="3358901"/>
            <a:ext cx="11340598" cy="3482101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8CE504D-CF68-020A-1C52-B4294CC1CD02}"/>
              </a:ext>
            </a:extLst>
          </p:cNvPr>
          <p:cNvSpPr txBox="1">
            <a:spLocks/>
          </p:cNvSpPr>
          <p:nvPr/>
        </p:nvSpPr>
        <p:spPr>
          <a:xfrm>
            <a:off x="5807968" y="1595301"/>
            <a:ext cx="5666659" cy="20497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800" dirty="0"/>
              <a:t>NR-Median heute: 51.1 Jahre. So tief wie seit über 100 Jahren nicht</a:t>
            </a:r>
          </a:p>
          <a:p>
            <a:r>
              <a:rPr lang="de-DE" sz="1800" dirty="0"/>
              <a:t>Höhepunkt der Alterung: </a:t>
            </a:r>
            <a:r>
              <a:rPr lang="de-DE" sz="1800" b="1" dirty="0"/>
              <a:t>1950er-Jahre</a:t>
            </a:r>
            <a:r>
              <a:rPr lang="de-DE" sz="1800" dirty="0"/>
              <a:t>, nicht heute</a:t>
            </a:r>
          </a:p>
          <a:p>
            <a:r>
              <a:rPr lang="de-DE" sz="1800" dirty="0"/>
              <a:t>SR ist konstant älter (~60 Jahre)</a:t>
            </a:r>
          </a:p>
        </p:txBody>
      </p:sp>
    </p:spTree>
    <p:extLst>
      <p:ext uri="{BB962C8B-B14F-4D97-AF65-F5344CB8AC3E}">
        <p14:creationId xmlns:p14="http://schemas.microsoft.com/office/powerpoint/2010/main" val="35320179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C64FD-8C9C-3C01-84E2-40B11A9D2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Seite 2: Aufschlüsselung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917E93-5A06-CD68-8334-753416011D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CH" sz="1800" dirty="0"/>
              <a:t>Median-Alter pro Partei, 5-Jahre-Glättung</a:t>
            </a:r>
          </a:p>
          <a:p>
            <a:r>
              <a:rPr lang="de-DE" sz="1800" dirty="0"/>
              <a:t>Sechs heute relevante Parteien, eng beieinander zwischen 50 und 60 Jahren.</a:t>
            </a:r>
          </a:p>
          <a:p>
            <a:r>
              <a:rPr lang="de-DE" sz="1800" b="1" dirty="0"/>
              <a:t>Grüne (seit 1979) und GLP (seit 2007)</a:t>
            </a:r>
            <a:r>
              <a:rPr lang="de-DE" sz="1800" dirty="0"/>
              <a:t> sind die jüngsten Fraktionen und drücken den Gesamtmedian nach unten.</a:t>
            </a:r>
          </a:p>
          <a:p>
            <a:r>
              <a:rPr lang="de-DE" sz="1800" dirty="0"/>
              <a:t>Frauen, die seit 1971 einsteigen, sind im Schnitt etwas jünger als Männer.</a:t>
            </a:r>
            <a:endParaRPr lang="LID4096" sz="18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71370BA-F992-E7F5-B771-4206478EAB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717032"/>
            <a:ext cx="4918392" cy="283158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3A671BB-0BFB-0DB6-2532-8051CAEE0F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0883" y="3712961"/>
            <a:ext cx="5484259" cy="2831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8264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BDB42-BECA-902D-A8C8-95736B798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Seite 3: Mechanismus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F74B3D-AA91-46A9-B8CC-2B2A94E7A1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CH" sz="1800" dirty="0"/>
              <a:t>Eintrittsalter pro Eintrittsdekade</a:t>
            </a:r>
          </a:p>
          <a:p>
            <a:pPr marL="0" indent="0">
              <a:buNone/>
            </a:pPr>
            <a:r>
              <a:rPr lang="de-DE" sz="1800" b="1" dirty="0"/>
              <a:t>Frage:</a:t>
            </a:r>
            <a:r>
              <a:rPr lang="de-DE" sz="1800" dirty="0"/>
              <a:t> Steigen Leute jünger ein, oder bleiben sie länger?</a:t>
            </a:r>
          </a:p>
          <a:p>
            <a:r>
              <a:rPr lang="de-DE" sz="1800" b="1" dirty="0"/>
              <a:t>Eintrittsalter seit 1880 stabil</a:t>
            </a:r>
            <a:r>
              <a:rPr lang="de-DE" sz="1800" dirty="0"/>
              <a:t> bei 46 bis 49 Jahren</a:t>
            </a:r>
          </a:p>
          <a:p>
            <a:r>
              <a:rPr lang="de-DE" sz="1800" b="1" dirty="0"/>
              <a:t>Mediane Mandatsdauer ~9 Jahre</a:t>
            </a:r>
            <a:r>
              <a:rPr lang="de-DE" sz="1800" dirty="0"/>
              <a:t>, ohne klaren Trend</a:t>
            </a:r>
          </a:p>
          <a:p>
            <a:r>
              <a:rPr lang="de-DE" sz="1800" dirty="0"/>
              <a:t>Schlussfolgerung: Der Tiefstand kommt nicht aus </a:t>
            </a:r>
            <a:br>
              <a:rPr lang="de-DE" sz="1800" dirty="0"/>
            </a:br>
            <a:r>
              <a:rPr lang="de-DE" sz="1800" dirty="0"/>
              <a:t>„jüngeren Einsteigern”, sondern aus dem </a:t>
            </a:r>
            <a:br>
              <a:rPr lang="de-DE" sz="1800" dirty="0"/>
            </a:br>
            <a:r>
              <a:rPr lang="de-DE" sz="1800" b="1" dirty="0"/>
              <a:t>Generationenwechsel über die neuen Parteien.</a:t>
            </a:r>
            <a:endParaRPr lang="de-DE" sz="1800" dirty="0"/>
          </a:p>
          <a:p>
            <a:pPr marL="0" indent="0">
              <a:buNone/>
            </a:pPr>
            <a:endParaRPr lang="LID4096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0C52CB-7DA9-A27C-01F8-F13B76CAF5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186" y="457201"/>
            <a:ext cx="5185433" cy="27794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7848CB-3B3D-3800-1595-A6E4B858F8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2306" y="3434057"/>
            <a:ext cx="5772493" cy="2613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15787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8CD49-F19F-7963-5284-3747B5B85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Seite 4: Personen</a:t>
            </a:r>
            <a:endParaRPr lang="LID4096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18ECD4-DDAE-2AF5-61E7-5CB6431F7F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804308"/>
            <a:ext cx="3118520" cy="534033"/>
          </a:xfrm>
        </p:spPr>
        <p:txBody>
          <a:bodyPr/>
          <a:lstStyle/>
          <a:p>
            <a:r>
              <a:rPr lang="de-CH" dirty="0"/>
              <a:t>Jüngster je gewählt</a:t>
            </a:r>
            <a:endParaRPr lang="LID4096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13E7B8-D619-9855-5CC5-879D8CF574A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2479675"/>
            <a:ext cx="3406552" cy="805309"/>
          </a:xfrm>
        </p:spPr>
        <p:txBody>
          <a:bodyPr/>
          <a:lstStyle/>
          <a:p>
            <a:pPr marL="0" indent="0">
              <a:buNone/>
            </a:pPr>
            <a:r>
              <a:rPr lang="de-DE" dirty="0"/>
              <a:t>Toni Brunner (SVP), 21 Jahre im Jahr 1995</a:t>
            </a:r>
            <a:endParaRPr lang="LID4096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6D71CF-29D1-E9AD-9783-A8644FC6F4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082715" y="1804308"/>
            <a:ext cx="3118520" cy="534033"/>
          </a:xfrm>
        </p:spPr>
        <p:txBody>
          <a:bodyPr/>
          <a:lstStyle/>
          <a:p>
            <a:r>
              <a:rPr lang="de-CH" dirty="0"/>
              <a:t>Ältester je gewählt</a:t>
            </a:r>
            <a:endParaRPr lang="LID4096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389889D-C41F-C2D1-6EB8-617EED07642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082715" y="2479675"/>
            <a:ext cx="3118520" cy="805309"/>
          </a:xfrm>
        </p:spPr>
        <p:txBody>
          <a:bodyPr/>
          <a:lstStyle/>
          <a:p>
            <a:pPr marL="0" indent="0">
              <a:buNone/>
            </a:pPr>
            <a:r>
              <a:rPr lang="de-DE" dirty="0"/>
              <a:t>Eduard von Waldkirch, 81 Jahre im Jahr 1971</a:t>
            </a:r>
            <a:endParaRPr lang="LID4096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B340173-743E-95B0-3C7F-D339F9AD4AA7}"/>
              </a:ext>
            </a:extLst>
          </p:cNvPr>
          <p:cNvSpPr txBox="1">
            <a:spLocks/>
          </p:cNvSpPr>
          <p:nvPr/>
        </p:nvSpPr>
        <p:spPr>
          <a:xfrm>
            <a:off x="457201" y="5775327"/>
            <a:ext cx="10809026" cy="53403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 cap="all" spc="15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cap="none" spc="0" dirty="0">
                <a:solidFill>
                  <a:schemeClr val="tx2"/>
                </a:solidFill>
              </a:rPr>
              <a:t>Heutige Bundesversammlung (n=237): </a:t>
            </a:r>
            <a:r>
              <a:rPr lang="de-DE" b="0" cap="none" spc="0" dirty="0">
                <a:solidFill>
                  <a:schemeClr val="tx2"/>
                </a:solidFill>
              </a:rPr>
              <a:t>Median 53.5 Jahre, Spannweite 31 bis 78.</a:t>
            </a:r>
            <a:endParaRPr lang="LID4096" spc="0" dirty="0"/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6B4FF868-8339-8C0C-C9ED-8A80645248AC}"/>
              </a:ext>
            </a:extLst>
          </p:cNvPr>
          <p:cNvSpPr txBox="1">
            <a:spLocks/>
          </p:cNvSpPr>
          <p:nvPr/>
        </p:nvSpPr>
        <p:spPr>
          <a:xfrm>
            <a:off x="7608168" y="1798885"/>
            <a:ext cx="3118520" cy="53403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 cap="all" spc="15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CH" dirty="0"/>
              <a:t>Längste Karriere</a:t>
            </a:r>
            <a:endParaRPr lang="LID4096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0AA18A62-C50C-BCFD-FEFD-588B630AEFC0}"/>
              </a:ext>
            </a:extLst>
          </p:cNvPr>
          <p:cNvSpPr txBox="1">
            <a:spLocks/>
          </p:cNvSpPr>
          <p:nvPr/>
        </p:nvSpPr>
        <p:spPr>
          <a:xfrm>
            <a:off x="7608168" y="2474252"/>
            <a:ext cx="3240360" cy="805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CH" dirty="0"/>
              <a:t>Josef Hildebrand 48 Jahre, 1886 - 1934 </a:t>
            </a:r>
            <a:endParaRPr lang="LID4096" dirty="0"/>
          </a:p>
        </p:txBody>
      </p:sp>
      <p:pic>
        <p:nvPicPr>
          <p:cNvPr id="5122" name="Picture 2" descr="Toni Brunner steigt zum jüngsten Alterspräsidenten seit 1848 auf">
            <a:extLst>
              <a:ext uri="{FF2B5EF4-FFF2-40B4-BE49-F238E27FC236}">
                <a16:creationId xmlns:a16="http://schemas.microsoft.com/office/drawing/2014/main" id="{831B6037-405A-56CF-2E4E-BEF9F621AD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38" t="8487" r="14361" b="10521"/>
          <a:stretch>
            <a:fillRect/>
          </a:stretch>
        </p:blipFill>
        <p:spPr bwMode="auto">
          <a:xfrm>
            <a:off x="698339" y="3132966"/>
            <a:ext cx="2808312" cy="2020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undefined">
            <a:extLst>
              <a:ext uri="{FF2B5EF4-FFF2-40B4-BE49-F238E27FC236}">
                <a16:creationId xmlns:a16="http://schemas.microsoft.com/office/drawing/2014/main" id="{A29C61BB-FCE5-5575-46E3-8FD69C95C76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51" t="12201" b="33102"/>
          <a:stretch>
            <a:fillRect/>
          </a:stretch>
        </p:blipFill>
        <p:spPr bwMode="auto">
          <a:xfrm>
            <a:off x="4525128" y="3105506"/>
            <a:ext cx="2233693" cy="2227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No photo description available.">
            <a:extLst>
              <a:ext uri="{FF2B5EF4-FFF2-40B4-BE49-F238E27FC236}">
                <a16:creationId xmlns:a16="http://schemas.microsoft.com/office/drawing/2014/main" id="{B3AE4719-7A6E-D99E-9A59-719663B9BE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97" r="8094"/>
          <a:stretch>
            <a:fillRect/>
          </a:stretch>
        </p:blipFill>
        <p:spPr bwMode="auto">
          <a:xfrm>
            <a:off x="8038770" y="2917102"/>
            <a:ext cx="2233694" cy="2636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123E58A-43EA-9CCA-81E4-23C60E765134}"/>
              </a:ext>
            </a:extLst>
          </p:cNvPr>
          <p:cNvSpPr txBox="1"/>
          <p:nvPr/>
        </p:nvSpPr>
        <p:spPr>
          <a:xfrm>
            <a:off x="612304" y="5129841"/>
            <a:ext cx="280831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Quelle: </a:t>
            </a:r>
            <a:r>
              <a:rPr lang="en-GB" sz="1100" dirty="0">
                <a:hlinkClick r:id="rId5"/>
              </a:rPr>
              <a:t>derbund.ch</a:t>
            </a:r>
            <a:r>
              <a:rPr lang="en-GB" sz="1100" dirty="0"/>
              <a:t> </a:t>
            </a:r>
            <a:endParaRPr lang="LID4096" sz="11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BBD7AB-80FF-A964-8572-325D29CEB46C}"/>
              </a:ext>
            </a:extLst>
          </p:cNvPr>
          <p:cNvSpPr txBox="1"/>
          <p:nvPr/>
        </p:nvSpPr>
        <p:spPr>
          <a:xfrm>
            <a:off x="4457558" y="5332701"/>
            <a:ext cx="280831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Quelle: </a:t>
            </a:r>
            <a:r>
              <a:rPr lang="en-GB" sz="1100" dirty="0">
                <a:hlinkClick r:id="rId6"/>
              </a:rPr>
              <a:t>wikimedia.org</a:t>
            </a:r>
            <a:endParaRPr lang="LID4096" sz="11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E92C317-34D0-3DF2-D334-A78A90391C3D}"/>
              </a:ext>
            </a:extLst>
          </p:cNvPr>
          <p:cNvSpPr txBox="1"/>
          <p:nvPr/>
        </p:nvSpPr>
        <p:spPr>
          <a:xfrm>
            <a:off x="8038770" y="5604225"/>
            <a:ext cx="280831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Quelle: </a:t>
            </a:r>
            <a:r>
              <a:rPr lang="en-GB" sz="1100" dirty="0">
                <a:hlinkClick r:id="rId7"/>
              </a:rPr>
              <a:t>Schweizer </a:t>
            </a:r>
            <a:r>
              <a:rPr lang="en-GB" sz="1100" dirty="0" err="1">
                <a:hlinkClick r:id="rId7"/>
              </a:rPr>
              <a:t>Parlament</a:t>
            </a:r>
            <a:r>
              <a:rPr lang="en-GB" sz="1100" dirty="0">
                <a:hlinkClick r:id="rId7"/>
              </a:rPr>
              <a:t> Facebook</a:t>
            </a:r>
            <a:endParaRPr lang="LID4096" sz="1100" dirty="0"/>
          </a:p>
        </p:txBody>
      </p:sp>
    </p:spTree>
    <p:extLst>
      <p:ext uri="{BB962C8B-B14F-4D97-AF65-F5344CB8AC3E}">
        <p14:creationId xmlns:p14="http://schemas.microsoft.com/office/powerpoint/2010/main" val="531340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13092A1-4EBA-783A-F530-E1588345F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Einordnung in bestehende Berichterstattung</a:t>
            </a:r>
            <a:endParaRPr lang="LID4096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48A2012-0DD4-C6C8-32E8-21E9CB47B4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sz="1800" b="1" dirty="0" err="1"/>
              <a:t>Swissinfo</a:t>
            </a:r>
            <a:r>
              <a:rPr lang="de-DE" sz="1800" b="1" dirty="0"/>
              <a:t> (Oktober 2019):</a:t>
            </a:r>
            <a:br>
              <a:rPr lang="de-DE" sz="1800" b="1" dirty="0"/>
            </a:br>
            <a:r>
              <a:rPr lang="de-DE" sz="1800" dirty="0"/>
              <a:t>„Nationalrat so jung wie nie zuvor”. Durchschnittsalter 49.0 Jahre.</a:t>
            </a:r>
          </a:p>
          <a:p>
            <a:pPr marL="0" indent="0">
              <a:buNone/>
            </a:pPr>
            <a:r>
              <a:rPr lang="de-DE" sz="1800" b="1" dirty="0"/>
              <a:t>Unser Befund:</a:t>
            </a:r>
            <a:r>
              <a:rPr lang="de-DE" sz="1800" dirty="0"/>
              <a:t> Bestätigt sich, sobald man den Stichtag berücksichtigt.</a:t>
            </a:r>
          </a:p>
          <a:p>
            <a:r>
              <a:rPr lang="de-DE" sz="1800" dirty="0" err="1"/>
              <a:t>Swissinfo</a:t>
            </a:r>
            <a:r>
              <a:rPr lang="de-DE" sz="1800" dirty="0"/>
              <a:t> misst nach den Wahlen vom 20. Oktober 2019.</a:t>
            </a:r>
          </a:p>
          <a:p>
            <a:r>
              <a:rPr lang="de-DE" sz="1800" dirty="0"/>
              <a:t>Unser Snapshot am 1. Juli 2019 zeigt noch</a:t>
            </a:r>
            <a:br>
              <a:rPr lang="de-DE" sz="1800" dirty="0"/>
            </a:br>
            <a:r>
              <a:rPr lang="de-DE" sz="1800" dirty="0"/>
              <a:t>den alten Bestand (53.1 Jahre).</a:t>
            </a:r>
          </a:p>
          <a:p>
            <a:r>
              <a:rPr lang="de-DE" sz="1800" dirty="0"/>
              <a:t>Erster Juli 2020 (neu gewählter Rat): 50.1 Jahre. Passt zu </a:t>
            </a:r>
            <a:r>
              <a:rPr lang="de-DE" sz="1800" dirty="0" err="1"/>
              <a:t>Swissinfo</a:t>
            </a:r>
            <a:r>
              <a:rPr lang="de-DE" sz="1800" dirty="0"/>
              <a:t>.</a:t>
            </a:r>
          </a:p>
          <a:p>
            <a:pPr marL="0" indent="0">
              <a:buNone/>
            </a:pPr>
            <a:r>
              <a:rPr lang="de-DE" sz="1800" b="1" dirty="0"/>
              <a:t>Unsere Erweiterung:</a:t>
            </a:r>
            <a:r>
              <a:rPr lang="de-DE" sz="1800" dirty="0"/>
              <a:t> 175 Jahre Kontext und Ständerat zusätzlich.</a:t>
            </a:r>
            <a:endParaRPr lang="LID4096" sz="18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9C5DFC8-DEBF-1F8A-EA91-DA804B3980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6200" y="1595301"/>
            <a:ext cx="3600400" cy="4294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2748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62976-5605-9C79-004E-F9121E116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57200"/>
            <a:ext cx="3409648" cy="5719639"/>
          </a:xfrm>
        </p:spPr>
        <p:txBody>
          <a:bodyPr anchor="t">
            <a:normAutofit/>
          </a:bodyPr>
          <a:lstStyle/>
          <a:p>
            <a:r>
              <a:rPr lang="de-CH" dirty="0"/>
              <a:t>Methodischer Lernpunkt</a:t>
            </a:r>
            <a:endParaRPr lang="LID4096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E86D7D9-5DCE-BD1B-7E25-74A6CE2DF294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709834791"/>
              </p:ext>
            </p:extLst>
          </p:nvPr>
        </p:nvGraphicFramePr>
        <p:xfrm>
          <a:off x="4504268" y="457200"/>
          <a:ext cx="7315200" cy="58064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705694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214CA-3611-6459-10AD-570DA6369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Schluss und Diskussion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E46DB-8707-75C4-9CD0-73BD06AA23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sz="1800" b="1" dirty="0"/>
              <a:t>Antwort auf die Hypothese:</a:t>
            </a:r>
            <a:r>
              <a:rPr lang="de-DE" sz="1800" dirty="0"/>
              <a:t> </a:t>
            </a:r>
            <a:br>
              <a:rPr lang="de-DE" sz="1800" dirty="0"/>
            </a:br>
            <a:r>
              <a:rPr lang="de-DE" sz="1800" dirty="0"/>
              <a:t>Für den Nationalrat sowie den Nationalrat </a:t>
            </a:r>
            <a:r>
              <a:rPr lang="de-DE" sz="1800" b="1" dirty="0"/>
              <a:t>stimmt sie nicht.</a:t>
            </a:r>
            <a:endParaRPr lang="de-DE" sz="1800" dirty="0"/>
          </a:p>
          <a:p>
            <a:r>
              <a:rPr lang="de-DE" sz="1800" b="1" dirty="0"/>
              <a:t>Live:</a:t>
            </a:r>
            <a:r>
              <a:rPr lang="de-DE" sz="1800" dirty="0"/>
              <a:t> </a:t>
            </a:r>
            <a:r>
              <a:rPr lang="de-DE" sz="1800" dirty="0" err="1">
                <a:hlinkClick r:id="rId2"/>
              </a:rPr>
              <a:t>vdss.cboss.dev</a:t>
            </a:r>
            <a:r>
              <a:rPr lang="de-DE" sz="1800" dirty="0">
                <a:hlinkClick r:id="rId2"/>
              </a:rPr>
              <a:t>/</a:t>
            </a:r>
            <a:r>
              <a:rPr lang="de-DE" sz="1800" dirty="0" err="1">
                <a:hlinkClick r:id="rId2"/>
              </a:rPr>
              <a:t>streamlit</a:t>
            </a:r>
            <a:endParaRPr lang="de-DE" sz="1800" dirty="0"/>
          </a:p>
          <a:p>
            <a:r>
              <a:rPr lang="de-DE" sz="1800" b="1" dirty="0"/>
              <a:t>Dokumentation:</a:t>
            </a:r>
            <a:r>
              <a:rPr lang="de-DE" sz="1800" dirty="0"/>
              <a:t> </a:t>
            </a:r>
            <a:r>
              <a:rPr lang="de-DE" sz="1800" dirty="0" err="1">
                <a:hlinkClick r:id="rId3"/>
              </a:rPr>
              <a:t>vdss.cboss.dev</a:t>
            </a:r>
            <a:endParaRPr lang="de-DE" sz="1800" dirty="0"/>
          </a:p>
          <a:p>
            <a:r>
              <a:rPr lang="de-DE" sz="1800" b="1" dirty="0"/>
              <a:t>Wir freuen uns auf eure Rückmeldung und Fragen</a:t>
            </a:r>
            <a:endParaRPr lang="de-DE" sz="1800" dirty="0"/>
          </a:p>
        </p:txBody>
      </p:sp>
    </p:spTree>
    <p:extLst>
      <p:ext uri="{BB962C8B-B14F-4D97-AF65-F5344CB8AC3E}">
        <p14:creationId xmlns:p14="http://schemas.microsoft.com/office/powerpoint/2010/main" val="2019771799"/>
      </p:ext>
    </p:extLst>
  </p:cSld>
  <p:clrMapOvr>
    <a:masterClrMapping/>
  </p:clrMapOvr>
</p:sld>
</file>

<file path=ppt/theme/theme1.xml><?xml version="1.0" encoding="utf-8"?>
<a:theme xmlns:a="http://schemas.openxmlformats.org/drawingml/2006/main" name="Bevel">
  <a:themeElements>
    <a:clrScheme name="Bevel">
      <a:dk1>
        <a:srgbClr val="090909"/>
      </a:dk1>
      <a:lt1>
        <a:sysClr val="window" lastClr="FFFFFF"/>
      </a:lt1>
      <a:dk2>
        <a:srgbClr val="1D1D1D"/>
      </a:dk2>
      <a:lt2>
        <a:srgbClr val="F1F2F3"/>
      </a:lt2>
      <a:accent1>
        <a:srgbClr val="2A38D5"/>
      </a:accent1>
      <a:accent2>
        <a:srgbClr val="F15928"/>
      </a:accent2>
      <a:accent3>
        <a:srgbClr val="00B4E6"/>
      </a:accent3>
      <a:accent4>
        <a:srgbClr val="0372FF"/>
      </a:accent4>
      <a:accent5>
        <a:srgbClr val="9196F3"/>
      </a:accent5>
      <a:accent6>
        <a:srgbClr val="90A0AD"/>
      </a:accent6>
      <a:hlink>
        <a:srgbClr val="F15928"/>
      </a:hlink>
      <a:folHlink>
        <a:srgbClr val="00B4E6"/>
      </a:folHlink>
    </a:clrScheme>
    <a:fontScheme name="Bierstad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vel" id="{100FCF00-15B7-4133-8EAA-9E95FFA55C03}" vid="{3D76F99D-2F24-4330-96C8-43722B676102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475EB31-18B9-4AA8-A149-83CEF8EA39E7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2D9AB490-033B-4147-92FE-525AC433C29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2214646-D872-4CD1-950B-8C8ACA0AE92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{C49ED5EA-1238-4A6C-8322-59FB91E32793}83bbbd38-a6fb-4ff8-84d3-dc1079288203-TF6b75fe00-494b-4189-afd2-d5202a664a094ed5ad66_win32</Template>
  <TotalTime>73</TotalTime>
  <Words>722</Words>
  <Application>Microsoft Office PowerPoint</Application>
  <PresentationFormat>Widescreen</PresentationFormat>
  <Paragraphs>81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Bierstadt</vt:lpstr>
      <vt:lpstr>Bevel</vt:lpstr>
      <vt:lpstr>Werden Bundespolitiker:innen immer älter?</vt:lpstr>
      <vt:lpstr>Thema und Hauptziel</vt:lpstr>
      <vt:lpstr>Zielgruppe</vt:lpstr>
      <vt:lpstr>Narrative Elemente</vt:lpstr>
      <vt:lpstr>Datensatz und Pipeline</vt:lpstr>
      <vt:lpstr>Seite 1: Headline. Stimmt die These?</vt:lpstr>
      <vt:lpstr>Seite 2: Aufschlüsselung</vt:lpstr>
      <vt:lpstr>Seite 3: Mechanismus</vt:lpstr>
      <vt:lpstr>Seite 4: Personen</vt:lpstr>
      <vt:lpstr>Einordnung in bestehende Berichterstattung</vt:lpstr>
      <vt:lpstr>Methodischer Lernpunkt</vt:lpstr>
      <vt:lpstr>Schluss und Diskussion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Bosshard Christian (boschr02)</dc:creator>
  <cp:lastModifiedBy>Bosshard Christian (boschr02)</cp:lastModifiedBy>
  <cp:revision>4</cp:revision>
  <dcterms:created xsi:type="dcterms:W3CDTF">2026-05-17T19:12:28Z</dcterms:created>
  <dcterms:modified xsi:type="dcterms:W3CDTF">2026-05-17T20:25:56Z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